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78" r:id="rId3"/>
    <p:sldId id="258" r:id="rId4"/>
    <p:sldId id="259" r:id="rId5"/>
    <p:sldId id="260" r:id="rId6"/>
    <p:sldId id="261" r:id="rId7"/>
    <p:sldId id="262" r:id="rId8"/>
    <p:sldId id="263" r:id="rId9"/>
    <p:sldId id="267" r:id="rId10"/>
    <p:sldId id="264" r:id="rId11"/>
    <p:sldId id="265" r:id="rId12"/>
    <p:sldId id="266" r:id="rId13"/>
    <p:sldId id="269" r:id="rId14"/>
    <p:sldId id="270" r:id="rId15"/>
    <p:sldId id="271" r:id="rId16"/>
    <p:sldId id="276" r:id="rId17"/>
    <p:sldId id="277" r:id="rId18"/>
    <p:sldId id="272" r:id="rId19"/>
    <p:sldId id="273" r:id="rId20"/>
    <p:sldId id="279" r:id="rId21"/>
    <p:sldId id="274" r:id="rId22"/>
    <p:sldId id="280" r:id="rId23"/>
    <p:sldId id="275" r:id="rId24"/>
    <p:sldId id="26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dallah ouf" initials="ao" lastIdx="2" clrIdx="0">
    <p:extLst>
      <p:ext uri="{19B8F6BF-5375-455C-9EA6-DF929625EA0E}">
        <p15:presenceInfo xmlns:p15="http://schemas.microsoft.com/office/powerpoint/2012/main" userId="dab6fd4bc6f6943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3" autoAdjust="0"/>
    <p:restoredTop sz="94660"/>
  </p:normalViewPr>
  <p:slideViewPr>
    <p:cSldViewPr snapToGrid="0">
      <p:cViewPr varScale="1">
        <p:scale>
          <a:sx n="66" d="100"/>
          <a:sy n="66" d="100"/>
        </p:scale>
        <p:origin x="4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DA29902-EF61-4BA2-8E51-85F08FDA3D3B}" type="datetimeFigureOut">
              <a:rPr lang="en-US" smtClean="0"/>
              <a:t>2/5/2024</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2119298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A29902-EF61-4BA2-8E51-85F08FDA3D3B}" type="datetimeFigureOut">
              <a:rPr lang="en-US" smtClean="0"/>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495563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A29902-EF61-4BA2-8E51-85F08FDA3D3B}" type="datetimeFigureOut">
              <a:rPr lang="en-US" smtClean="0"/>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1591658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A29902-EF61-4BA2-8E51-85F08FDA3D3B}" type="datetimeFigureOut">
              <a:rPr lang="en-US" smtClean="0"/>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3324822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A29902-EF61-4BA2-8E51-85F08FDA3D3B}" type="datetimeFigureOut">
              <a:rPr lang="en-US" smtClean="0"/>
              <a:t>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3582043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A29902-EF61-4BA2-8E51-85F08FDA3D3B}" type="datetimeFigureOut">
              <a:rPr lang="en-US" smtClean="0"/>
              <a:t>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1799715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A29902-EF61-4BA2-8E51-85F08FDA3D3B}" type="datetimeFigureOut">
              <a:rPr lang="en-US" smtClean="0"/>
              <a:t>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2149833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A29902-EF61-4BA2-8E51-85F08FDA3D3B}" type="datetimeFigureOut">
              <a:rPr lang="en-US" smtClean="0"/>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943990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A29902-EF61-4BA2-8E51-85F08FDA3D3B}" type="datetimeFigureOut">
              <a:rPr lang="en-US" smtClean="0"/>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4165918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A29902-EF61-4BA2-8E51-85F08FDA3D3B}" type="datetimeFigureOut">
              <a:rPr lang="en-US" smtClean="0"/>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1918941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A29902-EF61-4BA2-8E51-85F08FDA3D3B}" type="datetimeFigureOut">
              <a:rPr lang="en-US" smtClean="0"/>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3716614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A29902-EF61-4BA2-8E51-85F08FDA3D3B}" type="datetimeFigureOut">
              <a:rPr lang="en-US" smtClean="0"/>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E688F7-2E33-4EE2-B17C-5CF34C26482C}"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50208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A29902-EF61-4BA2-8E51-85F08FDA3D3B}" type="datetimeFigureOut">
              <a:rPr lang="en-US" smtClean="0"/>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27866666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DA29902-EF61-4BA2-8E51-85F08FDA3D3B}" type="datetimeFigureOut">
              <a:rPr lang="en-US" smtClean="0"/>
              <a:t>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14738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DA29902-EF61-4BA2-8E51-85F08FDA3D3B}" type="datetimeFigureOut">
              <a:rPr lang="en-US" smtClean="0"/>
              <a:t>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4010033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A29902-EF61-4BA2-8E51-85F08FDA3D3B}" type="datetimeFigureOut">
              <a:rPr lang="en-US" smtClean="0"/>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8649359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A29902-EF61-4BA2-8E51-85F08FDA3D3B}" type="datetimeFigureOut">
              <a:rPr lang="en-US" smtClean="0"/>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E688F7-2E33-4EE2-B17C-5CF34C26482C}" type="slidenum">
              <a:rPr lang="en-US" smtClean="0"/>
              <a:t>‹#›</a:t>
            </a:fld>
            <a:endParaRPr lang="en-US"/>
          </a:p>
        </p:txBody>
      </p:sp>
    </p:spTree>
    <p:extLst>
      <p:ext uri="{BB962C8B-B14F-4D97-AF65-F5344CB8AC3E}">
        <p14:creationId xmlns:p14="http://schemas.microsoft.com/office/powerpoint/2010/main" val="213867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DA29902-EF61-4BA2-8E51-85F08FDA3D3B}" type="datetimeFigureOut">
              <a:rPr lang="en-US" smtClean="0"/>
              <a:t>2/5/2024</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AE688F7-2E33-4EE2-B17C-5CF34C26482C}" type="slidenum">
              <a:rPr lang="en-US" smtClean="0"/>
              <a:t>‹#›</a:t>
            </a:fld>
            <a:endParaRPr lang="en-US"/>
          </a:p>
        </p:txBody>
      </p:sp>
      <p:pic>
        <p:nvPicPr>
          <p:cNvPr id="49" name="Content Placeholder 4">
            <a:extLst>
              <a:ext uri="{FF2B5EF4-FFF2-40B4-BE49-F238E27FC236}">
                <a16:creationId xmlns:a16="http://schemas.microsoft.com/office/drawing/2014/main" id="{F45B30AE-8D13-AC39-542E-641B86079294}"/>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8012613" y="5297625"/>
            <a:ext cx="4377428" cy="1560375"/>
          </a:xfrm>
          <a:prstGeom prst="rect">
            <a:avLst/>
          </a:prstGeom>
        </p:spPr>
      </p:pic>
    </p:spTree>
    <p:extLst>
      <p:ext uri="{BB962C8B-B14F-4D97-AF65-F5344CB8AC3E}">
        <p14:creationId xmlns:p14="http://schemas.microsoft.com/office/powerpoint/2010/main" val="1154483342"/>
      </p:ext>
    </p:extLst>
  </p:cSld>
  <p:clrMap bg1="dk1" tx1="lt1" bg2="dk2" tx2="lt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eksforgeeks.org/linux-history/" TargetMode="External"/><Relationship Id="rId2" Type="http://schemas.openxmlformats.org/officeDocument/2006/relationships/hyperlink" Target="https://www.linux.com/what-is-linux/" TargetMode="External"/><Relationship Id="rId1" Type="http://schemas.openxmlformats.org/officeDocument/2006/relationships/slideLayout" Target="../slideLayouts/slideLayout2.xml"/><Relationship Id="rId5" Type="http://schemas.openxmlformats.org/officeDocument/2006/relationships/hyperlink" Target="https://www.hostinger.com/tutorials/linux-commands" TargetMode="External"/><Relationship Id="rId4" Type="http://schemas.openxmlformats.org/officeDocument/2006/relationships/hyperlink" Target="https://ubuntu.com/tutorials/command-line-for-beginners#1-overvie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39DEC-8A48-238B-FF30-B75ECBB91B58}"/>
              </a:ext>
            </a:extLst>
          </p:cNvPr>
          <p:cNvSpPr>
            <a:spLocks noGrp="1"/>
          </p:cNvSpPr>
          <p:nvPr>
            <p:ph type="ctrTitle"/>
          </p:nvPr>
        </p:nvSpPr>
        <p:spPr/>
        <p:txBody>
          <a:bodyPr/>
          <a:lstStyle/>
          <a:p>
            <a:r>
              <a:rPr lang="en-US" dirty="0"/>
              <a:t>Introduction to Linux</a:t>
            </a:r>
          </a:p>
        </p:txBody>
      </p:sp>
      <p:sp>
        <p:nvSpPr>
          <p:cNvPr id="3" name="Subtitle 2">
            <a:extLst>
              <a:ext uri="{FF2B5EF4-FFF2-40B4-BE49-F238E27FC236}">
                <a16:creationId xmlns:a16="http://schemas.microsoft.com/office/drawing/2014/main" id="{FDEA2CA2-D443-FB14-8E69-21AB81D977C4}"/>
              </a:ext>
            </a:extLst>
          </p:cNvPr>
          <p:cNvSpPr>
            <a:spLocks noGrp="1"/>
          </p:cNvSpPr>
          <p:nvPr>
            <p:ph type="subTitle" idx="1"/>
          </p:nvPr>
        </p:nvSpPr>
        <p:spPr/>
        <p:txBody>
          <a:bodyPr/>
          <a:lstStyle/>
          <a:p>
            <a:r>
              <a:rPr lang="en-US" dirty="0"/>
              <a:t>Software Engineering</a:t>
            </a:r>
          </a:p>
        </p:txBody>
      </p:sp>
      <p:pic>
        <p:nvPicPr>
          <p:cNvPr id="4" name="Content Placeholder 4">
            <a:extLst>
              <a:ext uri="{FF2B5EF4-FFF2-40B4-BE49-F238E27FC236}">
                <a16:creationId xmlns:a16="http://schemas.microsoft.com/office/drawing/2014/main" id="{92859B04-465A-6EFB-53E8-3A16529BCE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2613" y="5297625"/>
            <a:ext cx="4377428" cy="1560375"/>
          </a:xfrm>
          <a:prstGeom prst="rect">
            <a:avLst/>
          </a:prstGeom>
        </p:spPr>
      </p:pic>
    </p:spTree>
    <p:extLst>
      <p:ext uri="{BB962C8B-B14F-4D97-AF65-F5344CB8AC3E}">
        <p14:creationId xmlns:p14="http://schemas.microsoft.com/office/powerpoint/2010/main" val="2162686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7A5B-5628-4FF7-9471-E98D01A40666}"/>
              </a:ext>
            </a:extLst>
          </p:cNvPr>
          <p:cNvSpPr>
            <a:spLocks noGrp="1"/>
          </p:cNvSpPr>
          <p:nvPr>
            <p:ph type="title"/>
          </p:nvPr>
        </p:nvSpPr>
        <p:spPr/>
        <p:txBody>
          <a:bodyPr/>
          <a:lstStyle/>
          <a:p>
            <a:r>
              <a:rPr lang="en-US" dirty="0"/>
              <a:t>Contents</a:t>
            </a:r>
            <a:endParaRPr lang="en-GB" dirty="0"/>
          </a:p>
        </p:txBody>
      </p:sp>
      <p:sp>
        <p:nvSpPr>
          <p:cNvPr id="3" name="Content Placeholder 2">
            <a:extLst>
              <a:ext uri="{FF2B5EF4-FFF2-40B4-BE49-F238E27FC236}">
                <a16:creationId xmlns:a16="http://schemas.microsoft.com/office/drawing/2014/main" id="{E07AD895-70E4-09FD-9AAD-81537BDC3961}"/>
              </a:ext>
            </a:extLst>
          </p:cNvPr>
          <p:cNvSpPr>
            <a:spLocks noGrp="1"/>
          </p:cNvSpPr>
          <p:nvPr>
            <p:ph idx="1"/>
          </p:nvPr>
        </p:nvSpPr>
        <p:spPr/>
        <p:txBody>
          <a:bodyPr/>
          <a:lstStyle/>
          <a:p>
            <a:r>
              <a:rPr lang="en-US" dirty="0"/>
              <a:t>What is Linux?</a:t>
            </a:r>
          </a:p>
          <a:p>
            <a:r>
              <a:rPr lang="en-GB" dirty="0"/>
              <a:t>Why use Linux?</a:t>
            </a:r>
          </a:p>
          <a:p>
            <a:r>
              <a:rPr lang="en-GB" dirty="0"/>
              <a:t>Linux Distributions</a:t>
            </a:r>
          </a:p>
          <a:p>
            <a:r>
              <a:rPr lang="en-GB" dirty="0"/>
              <a:t>History of Linux</a:t>
            </a:r>
          </a:p>
          <a:p>
            <a:r>
              <a:rPr lang="en-GB" dirty="0"/>
              <a:t>Command Line &amp; Basic Commands</a:t>
            </a:r>
          </a:p>
          <a:p>
            <a:r>
              <a:rPr lang="en-GB" dirty="0"/>
              <a:t>Directory Structure</a:t>
            </a:r>
          </a:p>
          <a:p>
            <a:endParaRPr lang="en-GB" dirty="0"/>
          </a:p>
        </p:txBody>
      </p:sp>
    </p:spTree>
    <p:extLst>
      <p:ext uri="{BB962C8B-B14F-4D97-AF65-F5344CB8AC3E}">
        <p14:creationId xmlns:p14="http://schemas.microsoft.com/office/powerpoint/2010/main" val="4148185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DCA98-C0EA-0138-D650-56C5AC753A81}"/>
              </a:ext>
            </a:extLst>
          </p:cNvPr>
          <p:cNvSpPr>
            <a:spLocks noGrp="1"/>
          </p:cNvSpPr>
          <p:nvPr>
            <p:ph type="title"/>
          </p:nvPr>
        </p:nvSpPr>
        <p:spPr/>
        <p:txBody>
          <a:bodyPr/>
          <a:lstStyle/>
          <a:p>
            <a:r>
              <a:rPr lang="en-US" dirty="0"/>
              <a:t>Linux?</a:t>
            </a:r>
          </a:p>
        </p:txBody>
      </p:sp>
      <p:sp>
        <p:nvSpPr>
          <p:cNvPr id="3" name="Content Placeholder 2">
            <a:extLst>
              <a:ext uri="{FF2B5EF4-FFF2-40B4-BE49-F238E27FC236}">
                <a16:creationId xmlns:a16="http://schemas.microsoft.com/office/drawing/2014/main" id="{4CD7C17A-093F-2560-ED73-201BB92FFDA9}"/>
              </a:ext>
            </a:extLst>
          </p:cNvPr>
          <p:cNvSpPr>
            <a:spLocks noGrp="1"/>
          </p:cNvSpPr>
          <p:nvPr>
            <p:ph idx="1"/>
          </p:nvPr>
        </p:nvSpPr>
        <p:spPr>
          <a:xfrm>
            <a:off x="1141412" y="2249487"/>
            <a:ext cx="5240137" cy="3541714"/>
          </a:xfrm>
        </p:spPr>
        <p:txBody>
          <a:bodyPr>
            <a:normAutofit/>
          </a:bodyPr>
          <a:lstStyle/>
          <a:p>
            <a:r>
              <a:rPr lang="en-GB" sz="1800" b="0" i="0" dirty="0">
                <a:effectLst/>
                <a:latin typeface="Verdana" panose="020B0604030504040204" pitchFamily="34" charset="0"/>
              </a:rPr>
              <a:t>Linux has been around since the mid-1990s and has since reached a user base that spans the globe. Linux is actually everywhere: It’s in your phones, your thermostats, in your cars, refrigerators, and televisions. It also runs most of the Internet, all of the world’s top 500 supercomputers, and the world’s stock exchanges.</a:t>
            </a:r>
            <a:endParaRPr lang="en-US" sz="1800" dirty="0"/>
          </a:p>
        </p:txBody>
      </p:sp>
      <p:pic>
        <p:nvPicPr>
          <p:cNvPr id="1028" name="Picture 4" descr="Linux - Wikipedia">
            <a:extLst>
              <a:ext uri="{FF2B5EF4-FFF2-40B4-BE49-F238E27FC236}">
                <a16:creationId xmlns:a16="http://schemas.microsoft.com/office/drawing/2014/main" id="{3BB44E89-7096-F00F-4600-70E799D088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4600" y="2097088"/>
            <a:ext cx="2608012" cy="3090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038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98FD0-2EE0-CFBA-69CA-2EDBAF0C9EBD}"/>
              </a:ext>
            </a:extLst>
          </p:cNvPr>
          <p:cNvSpPr>
            <a:spLocks noGrp="1"/>
          </p:cNvSpPr>
          <p:nvPr>
            <p:ph type="title"/>
          </p:nvPr>
        </p:nvSpPr>
        <p:spPr/>
        <p:txBody>
          <a:bodyPr/>
          <a:lstStyle/>
          <a:p>
            <a:r>
              <a:rPr lang="en-US" dirty="0"/>
              <a:t>What is LINUX?</a:t>
            </a:r>
            <a:endParaRPr lang="en-GB" dirty="0"/>
          </a:p>
        </p:txBody>
      </p:sp>
      <p:sp>
        <p:nvSpPr>
          <p:cNvPr id="3" name="Content Placeholder 2">
            <a:extLst>
              <a:ext uri="{FF2B5EF4-FFF2-40B4-BE49-F238E27FC236}">
                <a16:creationId xmlns:a16="http://schemas.microsoft.com/office/drawing/2014/main" id="{5408F9D4-17BA-7FAF-11CA-3DF16512514A}"/>
              </a:ext>
            </a:extLst>
          </p:cNvPr>
          <p:cNvSpPr>
            <a:spLocks noGrp="1"/>
          </p:cNvSpPr>
          <p:nvPr>
            <p:ph idx="1"/>
          </p:nvPr>
        </p:nvSpPr>
        <p:spPr>
          <a:xfrm>
            <a:off x="4770136" y="1948465"/>
            <a:ext cx="6366292" cy="3541714"/>
          </a:xfrm>
        </p:spPr>
        <p:txBody>
          <a:bodyPr>
            <a:normAutofit/>
          </a:bodyPr>
          <a:lstStyle/>
          <a:p>
            <a:r>
              <a:rPr lang="en-GB" sz="1800" b="0" i="0" dirty="0">
                <a:effectLst/>
                <a:latin typeface="Verdana" panose="020B0604030504040204" pitchFamily="34" charset="0"/>
              </a:rPr>
              <a:t>Just like Windows, iOS, and Mac OS, Linux is an operating system. In fact, one of the most popular platforms on the planet, Android, is powered by the Linux operating system. </a:t>
            </a:r>
          </a:p>
          <a:p>
            <a:r>
              <a:rPr lang="en-GB" sz="1800" b="0" i="0" dirty="0">
                <a:effectLst/>
                <a:latin typeface="Verdana" panose="020B0604030504040204" pitchFamily="34" charset="0"/>
              </a:rPr>
              <a:t>An operating system is software that manages all of the hardware resources associated with your desktop or laptop. To put it simply, the operating system manages the communication between your software and your hardware. Without the operating system (OS), the software wouldn’t function.</a:t>
            </a:r>
            <a:endParaRPr lang="en-GB" sz="1800" dirty="0"/>
          </a:p>
        </p:txBody>
      </p:sp>
      <p:pic>
        <p:nvPicPr>
          <p:cNvPr id="2050" name="Picture 2" descr="Beginner's Guide: How To Install Ubuntu Linux 18.04 LTS">
            <a:extLst>
              <a:ext uri="{FF2B5EF4-FFF2-40B4-BE49-F238E27FC236}">
                <a16:creationId xmlns:a16="http://schemas.microsoft.com/office/drawing/2014/main" id="{90E1B236-ADD1-DB78-9A80-43C43D8684A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27708" y1="70190" x2="27708" y2="70190"/>
                        <a14:foregroundMark x1="31570" y1="62352" x2="31570" y2="62352"/>
                        <a14:foregroundMark x1="42065" y1="72209" x2="42065" y2="72209"/>
                        <a14:foregroundMark x1="53568" y1="65083" x2="53568" y2="65083"/>
                        <a14:foregroundMark x1="62636" y1="64371" x2="62636" y2="64371"/>
                        <a14:foregroundMark x1="73216" y1="75297" x2="73216" y2="75297"/>
                      </a14:backgroundRemoval>
                    </a14:imgEffect>
                  </a14:imgLayer>
                </a14:imgProps>
              </a:ext>
              <a:ext uri="{28A0092B-C50C-407E-A947-70E740481C1C}">
                <a14:useLocalDpi xmlns:a14="http://schemas.microsoft.com/office/drawing/2010/main" val="0"/>
              </a:ext>
            </a:extLst>
          </a:blip>
          <a:srcRect/>
          <a:stretch>
            <a:fillRect/>
          </a:stretch>
        </p:blipFill>
        <p:spPr bwMode="auto">
          <a:xfrm>
            <a:off x="985020" y="2298754"/>
            <a:ext cx="4019026" cy="2841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472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082C8-3EAA-BB97-0756-064C06B46496}"/>
              </a:ext>
            </a:extLst>
          </p:cNvPr>
          <p:cNvSpPr>
            <a:spLocks noGrp="1"/>
          </p:cNvSpPr>
          <p:nvPr>
            <p:ph type="title"/>
          </p:nvPr>
        </p:nvSpPr>
        <p:spPr/>
        <p:txBody>
          <a:bodyPr/>
          <a:lstStyle/>
          <a:p>
            <a:r>
              <a:rPr lang="en-US" dirty="0"/>
              <a:t>Why </a:t>
            </a:r>
            <a:r>
              <a:rPr lang="en-US" dirty="0" err="1"/>
              <a:t>linux</a:t>
            </a:r>
            <a:r>
              <a:rPr lang="en-US" dirty="0"/>
              <a:t>?</a:t>
            </a:r>
            <a:endParaRPr lang="en-GB" dirty="0"/>
          </a:p>
        </p:txBody>
      </p:sp>
      <p:sp>
        <p:nvSpPr>
          <p:cNvPr id="3" name="Content Placeholder 2">
            <a:extLst>
              <a:ext uri="{FF2B5EF4-FFF2-40B4-BE49-F238E27FC236}">
                <a16:creationId xmlns:a16="http://schemas.microsoft.com/office/drawing/2014/main" id="{5F973319-9A9B-134F-F07F-269D33CAB7C8}"/>
              </a:ext>
            </a:extLst>
          </p:cNvPr>
          <p:cNvSpPr>
            <a:spLocks noGrp="1"/>
          </p:cNvSpPr>
          <p:nvPr>
            <p:ph idx="1"/>
          </p:nvPr>
        </p:nvSpPr>
        <p:spPr>
          <a:xfrm>
            <a:off x="1141412" y="2249487"/>
            <a:ext cx="5480769" cy="3541714"/>
          </a:xfrm>
        </p:spPr>
        <p:txBody>
          <a:bodyPr>
            <a:normAutofit lnSpcReduction="10000"/>
          </a:bodyPr>
          <a:lstStyle/>
          <a:p>
            <a:r>
              <a:rPr lang="en-GB" b="0" i="0" dirty="0">
                <a:solidFill>
                  <a:srgbClr val="FFFFFF"/>
                </a:solidFill>
                <a:effectLst/>
                <a:latin typeface="Nunito" panose="020F0502020204030204" pitchFamily="2" charset="0"/>
              </a:rPr>
              <a:t>Linux is considered one of the most stable, secure, and reliable operating systems and is widely used in servers, supercomputers, and enterprise environments. Today, Linux is one of the most widely used operating systems in the world because it is open-source.</a:t>
            </a:r>
            <a:endParaRPr lang="en-GB" dirty="0"/>
          </a:p>
        </p:txBody>
      </p:sp>
      <p:pic>
        <p:nvPicPr>
          <p:cNvPr id="3074" name="Picture 2" descr="Why Linux?">
            <a:extLst>
              <a:ext uri="{FF2B5EF4-FFF2-40B4-BE49-F238E27FC236}">
                <a16:creationId xmlns:a16="http://schemas.microsoft.com/office/drawing/2014/main" id="{4B83DAB9-9B86-8A63-6FC7-0C3C8DA852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9064" y="2510029"/>
            <a:ext cx="4803006" cy="25215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CECE9E2-176C-5450-CA73-80D013E56320}"/>
              </a:ext>
            </a:extLst>
          </p:cNvPr>
          <p:cNvSpPr txBox="1"/>
          <p:nvPr/>
        </p:nvSpPr>
        <p:spPr>
          <a:xfrm>
            <a:off x="1568918" y="5640404"/>
            <a:ext cx="6891688" cy="369332"/>
          </a:xfrm>
          <a:prstGeom prst="rect">
            <a:avLst/>
          </a:prstGeom>
          <a:noFill/>
        </p:spPr>
        <p:txBody>
          <a:bodyPr wrap="square" rtlCol="0">
            <a:spAutoFit/>
          </a:bodyPr>
          <a:lstStyle/>
          <a:p>
            <a:r>
              <a:rPr lang="en-US" dirty="0"/>
              <a:t>Check it OUT!: https://github.com/torvalds/linux</a:t>
            </a:r>
            <a:endParaRPr lang="en-GB" dirty="0"/>
          </a:p>
        </p:txBody>
      </p:sp>
    </p:spTree>
    <p:extLst>
      <p:ext uri="{BB962C8B-B14F-4D97-AF65-F5344CB8AC3E}">
        <p14:creationId xmlns:p14="http://schemas.microsoft.com/office/powerpoint/2010/main" val="3382088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AFAEE-4881-1556-6724-1FB3D04E390E}"/>
              </a:ext>
            </a:extLst>
          </p:cNvPr>
          <p:cNvSpPr>
            <a:spLocks noGrp="1"/>
          </p:cNvSpPr>
          <p:nvPr>
            <p:ph type="title"/>
          </p:nvPr>
        </p:nvSpPr>
        <p:spPr/>
        <p:txBody>
          <a:bodyPr/>
          <a:lstStyle/>
          <a:p>
            <a:r>
              <a:rPr lang="en-US" dirty="0"/>
              <a:t>Linux os components</a:t>
            </a:r>
            <a:endParaRPr lang="en-GB" dirty="0"/>
          </a:p>
        </p:txBody>
      </p:sp>
      <p:pic>
        <p:nvPicPr>
          <p:cNvPr id="4098" name="Picture 2" descr="Linux Operating System - DataFlair">
            <a:extLst>
              <a:ext uri="{FF2B5EF4-FFF2-40B4-BE49-F238E27FC236}">
                <a16:creationId xmlns:a16="http://schemas.microsoft.com/office/drawing/2014/main" id="{42FB0235-D3A6-9D23-C572-8FC82DEE561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5108" y="1749985"/>
            <a:ext cx="4466563" cy="41406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51F7C39-5875-3BA4-ECA7-50104D1A66A5}"/>
              </a:ext>
            </a:extLst>
          </p:cNvPr>
          <p:cNvPicPr>
            <a:picLocks noChangeAspect="1"/>
          </p:cNvPicPr>
          <p:nvPr/>
        </p:nvPicPr>
        <p:blipFill rotWithShape="1">
          <a:blip r:embed="rId3"/>
          <a:srcRect l="22532" t="6003" r="9991" b="24452"/>
          <a:stretch/>
        </p:blipFill>
        <p:spPr>
          <a:xfrm>
            <a:off x="6833937" y="2300437"/>
            <a:ext cx="4466563" cy="2598821"/>
          </a:xfrm>
          <a:prstGeom prst="rect">
            <a:avLst/>
          </a:prstGeom>
        </p:spPr>
      </p:pic>
    </p:spTree>
    <p:extLst>
      <p:ext uri="{BB962C8B-B14F-4D97-AF65-F5344CB8AC3E}">
        <p14:creationId xmlns:p14="http://schemas.microsoft.com/office/powerpoint/2010/main" val="3662396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E53CA-338F-C42B-BF95-7BBBEA10FD12}"/>
              </a:ext>
            </a:extLst>
          </p:cNvPr>
          <p:cNvSpPr>
            <a:spLocks noGrp="1"/>
          </p:cNvSpPr>
          <p:nvPr>
            <p:ph type="title"/>
          </p:nvPr>
        </p:nvSpPr>
        <p:spPr/>
        <p:txBody>
          <a:bodyPr/>
          <a:lstStyle/>
          <a:p>
            <a:r>
              <a:rPr lang="en-US" dirty="0"/>
              <a:t>Linux is open source</a:t>
            </a:r>
            <a:endParaRPr lang="en-GB" dirty="0"/>
          </a:p>
        </p:txBody>
      </p:sp>
      <p:sp>
        <p:nvSpPr>
          <p:cNvPr id="3" name="Content Placeholder 2">
            <a:extLst>
              <a:ext uri="{FF2B5EF4-FFF2-40B4-BE49-F238E27FC236}">
                <a16:creationId xmlns:a16="http://schemas.microsoft.com/office/drawing/2014/main" id="{EA89EBB7-B56C-4BAA-B2D6-D92F0088C95A}"/>
              </a:ext>
            </a:extLst>
          </p:cNvPr>
          <p:cNvSpPr>
            <a:spLocks noGrp="1"/>
          </p:cNvSpPr>
          <p:nvPr>
            <p:ph idx="1"/>
          </p:nvPr>
        </p:nvSpPr>
        <p:spPr>
          <a:xfrm>
            <a:off x="1141413" y="2249487"/>
            <a:ext cx="5336390" cy="3541714"/>
          </a:xfrm>
        </p:spPr>
        <p:txBody>
          <a:bodyPr>
            <a:normAutofit/>
          </a:bodyPr>
          <a:lstStyle/>
          <a:p>
            <a:pPr algn="l">
              <a:buFont typeface="Arial" panose="020B0604020202020204" pitchFamily="34" charset="0"/>
              <a:buChar char="•"/>
            </a:pPr>
            <a:r>
              <a:rPr lang="en-GB" sz="1800" b="0" i="0" dirty="0">
                <a:solidFill>
                  <a:srgbClr val="222222"/>
                </a:solidFill>
                <a:effectLst/>
                <a:latin typeface="Verdana" panose="020B0604030504040204" pitchFamily="34" charset="0"/>
              </a:rPr>
              <a:t>The freedom to run the program, for any purpose.</a:t>
            </a:r>
          </a:p>
          <a:p>
            <a:pPr algn="l">
              <a:buFont typeface="Arial" panose="020B0604020202020204" pitchFamily="34" charset="0"/>
              <a:buChar char="•"/>
            </a:pPr>
            <a:r>
              <a:rPr lang="en-GB" sz="1800" b="0" i="0" dirty="0">
                <a:solidFill>
                  <a:srgbClr val="222222"/>
                </a:solidFill>
                <a:effectLst/>
                <a:latin typeface="Verdana" panose="020B0604030504040204" pitchFamily="34" charset="0"/>
              </a:rPr>
              <a:t>The freedom to study how the program works, and change it to make it do what you wish.</a:t>
            </a:r>
          </a:p>
          <a:p>
            <a:pPr algn="l">
              <a:buFont typeface="Arial" panose="020B0604020202020204" pitchFamily="34" charset="0"/>
              <a:buChar char="•"/>
            </a:pPr>
            <a:r>
              <a:rPr lang="en-GB" sz="1800" b="0" i="0" dirty="0">
                <a:solidFill>
                  <a:srgbClr val="222222"/>
                </a:solidFill>
                <a:effectLst/>
                <a:latin typeface="Verdana" panose="020B0604030504040204" pitchFamily="34" charset="0"/>
              </a:rPr>
              <a:t>The freedom to redistribute copies so you can help your neighbour.</a:t>
            </a:r>
          </a:p>
          <a:p>
            <a:pPr algn="l">
              <a:buFont typeface="Arial" panose="020B0604020202020204" pitchFamily="34" charset="0"/>
              <a:buChar char="•"/>
            </a:pPr>
            <a:r>
              <a:rPr lang="en-GB" sz="1800" b="0" i="0" dirty="0">
                <a:solidFill>
                  <a:srgbClr val="222222"/>
                </a:solidFill>
                <a:effectLst/>
                <a:latin typeface="Verdana" panose="020B0604030504040204" pitchFamily="34" charset="0"/>
              </a:rPr>
              <a:t>The freedom to distribute copies of your modified versions to others.</a:t>
            </a:r>
          </a:p>
          <a:p>
            <a:endParaRPr lang="en-GB" sz="1800" dirty="0"/>
          </a:p>
        </p:txBody>
      </p:sp>
      <p:pic>
        <p:nvPicPr>
          <p:cNvPr id="5122" name="Picture 2" descr="Open Source Software and Cybersecurity: How unique is this problem? |  Wilson Center">
            <a:extLst>
              <a:ext uri="{FF2B5EF4-FFF2-40B4-BE49-F238E27FC236}">
                <a16:creationId xmlns:a16="http://schemas.microsoft.com/office/drawing/2014/main" id="{B56F2D6F-CED1-E974-7C87-DE857E58E6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6559" y="2249487"/>
            <a:ext cx="4160852" cy="3141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8223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B8341-90E4-6AC9-7EFB-04E0EFDD6C39}"/>
              </a:ext>
            </a:extLst>
          </p:cNvPr>
          <p:cNvSpPr>
            <a:spLocks noGrp="1"/>
          </p:cNvSpPr>
          <p:nvPr>
            <p:ph type="title"/>
          </p:nvPr>
        </p:nvSpPr>
        <p:spPr/>
        <p:txBody>
          <a:bodyPr/>
          <a:lstStyle/>
          <a:p>
            <a:r>
              <a:rPr lang="en-US" dirty="0"/>
              <a:t>Linux distributions</a:t>
            </a:r>
            <a:endParaRPr lang="en-GB" dirty="0"/>
          </a:p>
        </p:txBody>
      </p:sp>
      <p:sp>
        <p:nvSpPr>
          <p:cNvPr id="3" name="Content Placeholder 2">
            <a:extLst>
              <a:ext uri="{FF2B5EF4-FFF2-40B4-BE49-F238E27FC236}">
                <a16:creationId xmlns:a16="http://schemas.microsoft.com/office/drawing/2014/main" id="{727FDB3B-4EC4-F3D7-D261-D32325E3567A}"/>
              </a:ext>
            </a:extLst>
          </p:cNvPr>
          <p:cNvSpPr>
            <a:spLocks noGrp="1"/>
          </p:cNvSpPr>
          <p:nvPr>
            <p:ph idx="1"/>
          </p:nvPr>
        </p:nvSpPr>
        <p:spPr/>
        <p:txBody>
          <a:bodyPr>
            <a:normAutofit fontScale="92500" lnSpcReduction="10000"/>
          </a:bodyPr>
          <a:lstStyle/>
          <a:p>
            <a:pPr marL="0" indent="0">
              <a:buNone/>
            </a:pPr>
            <a:r>
              <a:rPr lang="en-GB" dirty="0"/>
              <a:t>Ubuntu</a:t>
            </a:r>
          </a:p>
          <a:p>
            <a:pPr marL="0" indent="0">
              <a:buNone/>
            </a:pPr>
            <a:r>
              <a:rPr lang="en-GB" dirty="0"/>
              <a:t>Fedora</a:t>
            </a:r>
          </a:p>
          <a:p>
            <a:pPr marL="0" indent="0">
              <a:buNone/>
            </a:pPr>
            <a:r>
              <a:rPr lang="en-GB" dirty="0"/>
              <a:t>Arch</a:t>
            </a:r>
          </a:p>
          <a:p>
            <a:pPr marL="0" indent="0">
              <a:buNone/>
            </a:pPr>
            <a:r>
              <a:rPr lang="en-GB" dirty="0"/>
              <a:t>Plasma</a:t>
            </a:r>
          </a:p>
          <a:p>
            <a:pPr marL="0" indent="0">
              <a:buNone/>
            </a:pPr>
            <a:r>
              <a:rPr lang="en-GB" dirty="0"/>
              <a:t>KDE</a:t>
            </a:r>
          </a:p>
          <a:p>
            <a:pPr marL="0" indent="0">
              <a:buNone/>
            </a:pPr>
            <a:r>
              <a:rPr lang="en-GB" dirty="0"/>
              <a:t>Mint</a:t>
            </a:r>
          </a:p>
          <a:p>
            <a:pPr marL="0" indent="0">
              <a:buNone/>
            </a:pPr>
            <a:r>
              <a:rPr lang="en-GB" dirty="0" err="1"/>
              <a:t>Manjaro</a:t>
            </a:r>
            <a:endParaRPr lang="en-GB" dirty="0"/>
          </a:p>
        </p:txBody>
      </p:sp>
      <p:pic>
        <p:nvPicPr>
          <p:cNvPr id="6146" name="Picture 2" descr="Linux Distribution Explained: Finding the Perfect Fit | by CYber VIaz |  Medium">
            <a:extLst>
              <a:ext uri="{FF2B5EF4-FFF2-40B4-BE49-F238E27FC236}">
                <a16:creationId xmlns:a16="http://schemas.microsoft.com/office/drawing/2014/main" id="{6028F54E-3F47-31F5-1973-E3C53DDBD4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2724" y="1764366"/>
            <a:ext cx="5448299" cy="363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0516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9BD2E-629C-CC04-0528-D5EF8F804E67}"/>
              </a:ext>
            </a:extLst>
          </p:cNvPr>
          <p:cNvSpPr>
            <a:spLocks noGrp="1"/>
          </p:cNvSpPr>
          <p:nvPr>
            <p:ph type="title"/>
          </p:nvPr>
        </p:nvSpPr>
        <p:spPr/>
        <p:txBody>
          <a:bodyPr/>
          <a:lstStyle/>
          <a:p>
            <a:r>
              <a:rPr lang="en-US" dirty="0"/>
              <a:t>Linux distributions</a:t>
            </a:r>
            <a:endParaRPr lang="en-GB" dirty="0"/>
          </a:p>
        </p:txBody>
      </p:sp>
      <p:sp>
        <p:nvSpPr>
          <p:cNvPr id="3" name="Content Placeholder 2">
            <a:extLst>
              <a:ext uri="{FF2B5EF4-FFF2-40B4-BE49-F238E27FC236}">
                <a16:creationId xmlns:a16="http://schemas.microsoft.com/office/drawing/2014/main" id="{77B675D1-48E1-B78C-8BDF-7A860B28676D}"/>
              </a:ext>
            </a:extLst>
          </p:cNvPr>
          <p:cNvSpPr>
            <a:spLocks noGrp="1"/>
          </p:cNvSpPr>
          <p:nvPr>
            <p:ph idx="1"/>
          </p:nvPr>
        </p:nvSpPr>
        <p:spPr/>
        <p:txBody>
          <a:bodyPr/>
          <a:lstStyle/>
          <a:p>
            <a:r>
              <a:rPr lang="en-US" dirty="0"/>
              <a:t>Basic: Linux Mint, Ubuntu, Elementary OS or </a:t>
            </a:r>
            <a:r>
              <a:rPr lang="en-US" dirty="0" err="1"/>
              <a:t>Deepin</a:t>
            </a:r>
            <a:r>
              <a:rPr lang="en-US" dirty="0"/>
              <a:t>.</a:t>
            </a:r>
          </a:p>
          <a:p>
            <a:r>
              <a:rPr lang="en-GB" dirty="0"/>
              <a:t>Above-average: Debian or Fedora</a:t>
            </a:r>
          </a:p>
          <a:p>
            <a:r>
              <a:rPr lang="en-GB" dirty="0"/>
              <a:t>Challenging:  Gentoo</a:t>
            </a:r>
          </a:p>
        </p:txBody>
      </p:sp>
    </p:spTree>
    <p:extLst>
      <p:ext uri="{BB962C8B-B14F-4D97-AF65-F5344CB8AC3E}">
        <p14:creationId xmlns:p14="http://schemas.microsoft.com/office/powerpoint/2010/main" val="684822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382A3-B07F-C92D-C45E-316878EE1FD8}"/>
              </a:ext>
            </a:extLst>
          </p:cNvPr>
          <p:cNvSpPr>
            <a:spLocks noGrp="1"/>
          </p:cNvSpPr>
          <p:nvPr>
            <p:ph type="title"/>
          </p:nvPr>
        </p:nvSpPr>
        <p:spPr/>
        <p:txBody>
          <a:bodyPr/>
          <a:lstStyle/>
          <a:p>
            <a:r>
              <a:rPr lang="en-US" dirty="0"/>
              <a:t>History of </a:t>
            </a:r>
            <a:r>
              <a:rPr lang="en-US" dirty="0" err="1"/>
              <a:t>linux</a:t>
            </a:r>
            <a:endParaRPr lang="en-GB" dirty="0"/>
          </a:p>
        </p:txBody>
      </p:sp>
      <p:sp>
        <p:nvSpPr>
          <p:cNvPr id="3" name="Content Placeholder 2">
            <a:extLst>
              <a:ext uri="{FF2B5EF4-FFF2-40B4-BE49-F238E27FC236}">
                <a16:creationId xmlns:a16="http://schemas.microsoft.com/office/drawing/2014/main" id="{8DACA218-49E8-B9B7-406A-B76D1CC34E1A}"/>
              </a:ext>
            </a:extLst>
          </p:cNvPr>
          <p:cNvSpPr>
            <a:spLocks noGrp="1"/>
          </p:cNvSpPr>
          <p:nvPr>
            <p:ph idx="1"/>
          </p:nvPr>
        </p:nvSpPr>
        <p:spPr>
          <a:xfrm>
            <a:off x="1141413" y="1684421"/>
            <a:ext cx="7511699" cy="4106780"/>
          </a:xfrm>
        </p:spPr>
        <p:txBody>
          <a:bodyPr>
            <a:normAutofit lnSpcReduction="10000"/>
          </a:bodyPr>
          <a:lstStyle/>
          <a:p>
            <a:r>
              <a:rPr lang="en-US" dirty="0"/>
              <a:t>1970s: </a:t>
            </a:r>
            <a:r>
              <a:rPr lang="en-GB" b="1" i="0" dirty="0">
                <a:solidFill>
                  <a:srgbClr val="FFFFFF"/>
                </a:solidFill>
                <a:effectLst/>
                <a:latin typeface="Nunito" pitchFamily="2" charset="0"/>
              </a:rPr>
              <a:t>Unix development, </a:t>
            </a:r>
            <a:r>
              <a:rPr lang="en-GB" b="0" i="0" dirty="0">
                <a:solidFill>
                  <a:srgbClr val="FFFFFF"/>
                </a:solidFill>
                <a:effectLst/>
                <a:latin typeface="Nunito" pitchFamily="2" charset="0"/>
              </a:rPr>
              <a:t>Unix was developed as a multi-user, multi-tasking operating system and has been widely used in science and research.</a:t>
            </a:r>
          </a:p>
          <a:p>
            <a:r>
              <a:rPr lang="en-GB" b="1" i="0" dirty="0">
                <a:solidFill>
                  <a:srgbClr val="FFFFFF"/>
                </a:solidFill>
                <a:effectLst/>
                <a:latin typeface="Nunito" pitchFamily="2" charset="0"/>
              </a:rPr>
              <a:t>1980s: </a:t>
            </a:r>
            <a:r>
              <a:rPr lang="en-GB" b="1" i="0" dirty="0" err="1">
                <a:solidFill>
                  <a:srgbClr val="FFFFFF"/>
                </a:solidFill>
                <a:effectLst/>
                <a:latin typeface="Nunito" pitchFamily="2" charset="0"/>
              </a:rPr>
              <a:t>Minix</a:t>
            </a:r>
            <a:r>
              <a:rPr lang="en-GB" b="1" i="0" dirty="0">
                <a:solidFill>
                  <a:srgbClr val="FFFFFF"/>
                </a:solidFill>
                <a:effectLst/>
                <a:latin typeface="Nunito" pitchFamily="2" charset="0"/>
              </a:rPr>
              <a:t> is ​​born, </a:t>
            </a:r>
            <a:r>
              <a:rPr lang="en-GB" b="0" i="0" dirty="0">
                <a:solidFill>
                  <a:srgbClr val="FFFFFF"/>
                </a:solidFill>
                <a:effectLst/>
                <a:latin typeface="Nunito" pitchFamily="2" charset="0"/>
              </a:rPr>
              <a:t>computer science professor Andrew S. Tanenbaum created a small Unix-like operating system called </a:t>
            </a:r>
            <a:r>
              <a:rPr lang="en-GB" b="0" i="0" dirty="0" err="1">
                <a:solidFill>
                  <a:srgbClr val="FFFFFF"/>
                </a:solidFill>
                <a:effectLst/>
                <a:latin typeface="Nunito" pitchFamily="2" charset="0"/>
              </a:rPr>
              <a:t>Minix</a:t>
            </a:r>
            <a:r>
              <a:rPr lang="en-GB" b="0" i="0" dirty="0">
                <a:solidFill>
                  <a:srgbClr val="FFFFFF"/>
                </a:solidFill>
                <a:effectLst/>
                <a:latin typeface="Nunito" pitchFamily="2" charset="0"/>
              </a:rPr>
              <a:t>. </a:t>
            </a:r>
          </a:p>
          <a:p>
            <a:r>
              <a:rPr lang="en-GB" dirty="0">
                <a:solidFill>
                  <a:srgbClr val="FFFFFF"/>
                </a:solidFill>
                <a:latin typeface="Nunito" pitchFamily="2" charset="0"/>
              </a:rPr>
              <a:t>1991: </a:t>
            </a:r>
            <a:r>
              <a:rPr lang="en-GB" b="0" i="0" dirty="0">
                <a:solidFill>
                  <a:srgbClr val="FFFFFF"/>
                </a:solidFill>
                <a:effectLst/>
                <a:latin typeface="Nunito" pitchFamily="2" charset="0"/>
              </a:rPr>
              <a:t>21-year-old student named Linus Torvalds began working on a new operating system he named Linux.</a:t>
            </a:r>
            <a:endParaRPr lang="en-GB" b="1" i="0" dirty="0">
              <a:solidFill>
                <a:srgbClr val="FFFFFF"/>
              </a:solidFill>
              <a:effectLst/>
              <a:latin typeface="Nunito" pitchFamily="2" charset="0"/>
            </a:endParaRPr>
          </a:p>
          <a:p>
            <a:endParaRPr lang="en-GB" dirty="0"/>
          </a:p>
        </p:txBody>
      </p:sp>
      <p:sp>
        <p:nvSpPr>
          <p:cNvPr id="4" name="AutoShape 2" descr="The UNIX System, UNIX System">
            <a:extLst>
              <a:ext uri="{FF2B5EF4-FFF2-40B4-BE49-F238E27FC236}">
                <a16:creationId xmlns:a16="http://schemas.microsoft.com/office/drawing/2014/main" id="{39C7A786-C55B-9792-E0A1-3BC9C64586D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8196" name="Picture 4" descr="The UNIX System, UNIX System">
            <a:extLst>
              <a:ext uri="{FF2B5EF4-FFF2-40B4-BE49-F238E27FC236}">
                <a16:creationId xmlns:a16="http://schemas.microsoft.com/office/drawing/2014/main" id="{1A883925-E19B-320B-DA75-CFBC6334EF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3099" y="1684421"/>
            <a:ext cx="2481714" cy="1043742"/>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Is Minix a forgotten OS?">
            <a:extLst>
              <a:ext uri="{FF2B5EF4-FFF2-40B4-BE49-F238E27FC236}">
                <a16:creationId xmlns:a16="http://schemas.microsoft.com/office/drawing/2014/main" id="{AFD564B3-3D9D-9AEE-73A0-28334BA6F7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3099" y="2907131"/>
            <a:ext cx="2408104" cy="1348538"/>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Linux: Operating Free Since 1991">
            <a:extLst>
              <a:ext uri="{FF2B5EF4-FFF2-40B4-BE49-F238E27FC236}">
                <a16:creationId xmlns:a16="http://schemas.microsoft.com/office/drawing/2014/main" id="{62D3AC0C-20EC-0D52-1CBE-7079B7EE91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3905" y="4434637"/>
            <a:ext cx="1983506" cy="1069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5847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A7CF9-86BB-67B7-B206-30030EAC4F5E}"/>
              </a:ext>
            </a:extLst>
          </p:cNvPr>
          <p:cNvSpPr>
            <a:spLocks noGrp="1"/>
          </p:cNvSpPr>
          <p:nvPr>
            <p:ph type="title"/>
          </p:nvPr>
        </p:nvSpPr>
        <p:spPr/>
        <p:txBody>
          <a:bodyPr/>
          <a:lstStyle/>
          <a:p>
            <a:r>
              <a:rPr lang="en-US" dirty="0"/>
              <a:t>History of </a:t>
            </a:r>
            <a:r>
              <a:rPr lang="en-US" dirty="0" err="1"/>
              <a:t>linux</a:t>
            </a:r>
            <a:r>
              <a:rPr lang="en-US" dirty="0"/>
              <a:t> </a:t>
            </a:r>
            <a:r>
              <a:rPr lang="en-US" dirty="0" err="1"/>
              <a:t>ctd</a:t>
            </a:r>
            <a:endParaRPr lang="en-GB" dirty="0"/>
          </a:p>
        </p:txBody>
      </p:sp>
      <p:sp>
        <p:nvSpPr>
          <p:cNvPr id="3" name="Content Placeholder 2">
            <a:extLst>
              <a:ext uri="{FF2B5EF4-FFF2-40B4-BE49-F238E27FC236}">
                <a16:creationId xmlns:a16="http://schemas.microsoft.com/office/drawing/2014/main" id="{7AA7F6AD-8936-753A-C792-14711C0A3784}"/>
              </a:ext>
            </a:extLst>
          </p:cNvPr>
          <p:cNvSpPr>
            <a:spLocks noGrp="1"/>
          </p:cNvSpPr>
          <p:nvPr>
            <p:ph idx="1"/>
          </p:nvPr>
        </p:nvSpPr>
        <p:spPr>
          <a:xfrm>
            <a:off x="1141413" y="1665172"/>
            <a:ext cx="6568424" cy="4494996"/>
          </a:xfrm>
        </p:spPr>
        <p:txBody>
          <a:bodyPr>
            <a:normAutofit/>
          </a:bodyPr>
          <a:lstStyle/>
          <a:p>
            <a:r>
              <a:rPr lang="en-GB" sz="1800" b="0" i="0" dirty="0">
                <a:solidFill>
                  <a:srgbClr val="FFFFFF"/>
                </a:solidFill>
                <a:effectLst/>
                <a:latin typeface="Nunito" pitchFamily="2" charset="0"/>
              </a:rPr>
              <a:t>September 1991: </a:t>
            </a:r>
            <a:r>
              <a:rPr lang="en-GB" sz="1800" b="1" i="0" dirty="0">
                <a:solidFill>
                  <a:srgbClr val="FFFFFF"/>
                </a:solidFill>
                <a:effectLst/>
                <a:latin typeface="Nunito" pitchFamily="2" charset="0"/>
              </a:rPr>
              <a:t>Release of Linux 0.01:</a:t>
            </a:r>
            <a:r>
              <a:rPr lang="en-GB" sz="1800" b="0" i="0" dirty="0">
                <a:solidFill>
                  <a:srgbClr val="FFFFFF"/>
                </a:solidFill>
                <a:effectLst/>
                <a:latin typeface="Nunito" pitchFamily="2" charset="0"/>
              </a:rPr>
              <a:t> Linus released the first version of his Linux called Linux 0.01. It was a command-line operating system and was freely distributed on the Internet.</a:t>
            </a:r>
          </a:p>
          <a:p>
            <a:r>
              <a:rPr lang="en-GB" sz="1800" b="1" i="0" dirty="0">
                <a:solidFill>
                  <a:srgbClr val="FFFFFF"/>
                </a:solidFill>
                <a:effectLst/>
                <a:latin typeface="Nunito" pitchFamily="2" charset="0"/>
              </a:rPr>
              <a:t>Linux community development: </a:t>
            </a:r>
            <a:r>
              <a:rPr lang="en-GB" sz="1800" b="0" i="0" dirty="0">
                <a:solidFill>
                  <a:srgbClr val="FFFFFF"/>
                </a:solidFill>
                <a:effectLst/>
                <a:latin typeface="Nunito" pitchFamily="2" charset="0"/>
              </a:rPr>
              <a:t>In the years that followed, Linux quickly gained popularity among programmers and enthusiasts.</a:t>
            </a:r>
            <a:endParaRPr lang="en-GB" sz="1800" dirty="0">
              <a:solidFill>
                <a:srgbClr val="FFFFFF"/>
              </a:solidFill>
              <a:latin typeface="Nunito" pitchFamily="2" charset="0"/>
            </a:endParaRPr>
          </a:p>
          <a:p>
            <a:r>
              <a:rPr lang="en-GB" sz="1800" b="1" i="0" dirty="0">
                <a:solidFill>
                  <a:srgbClr val="FFFFFF"/>
                </a:solidFill>
                <a:effectLst/>
                <a:latin typeface="Nunito" pitchFamily="2" charset="0"/>
              </a:rPr>
              <a:t>Enterprise Adoption:</a:t>
            </a:r>
            <a:r>
              <a:rPr lang="en-GB" sz="1800" b="0" i="0" dirty="0">
                <a:solidFill>
                  <a:srgbClr val="FFFFFF"/>
                </a:solidFill>
                <a:effectLst/>
                <a:latin typeface="Nunito" pitchFamily="2" charset="0"/>
              </a:rPr>
              <a:t> In the late 1990s and early 2000s, the open-source nature of Linux made it more flexible, cost-effective, and more secure than proprietary operating systems such as Windows, making it a popular choice for enterprises and businesses.</a:t>
            </a:r>
          </a:p>
        </p:txBody>
      </p:sp>
      <p:pic>
        <p:nvPicPr>
          <p:cNvPr id="9218" name="Picture 2" descr="Linux 0.01 - Computer History Wiki">
            <a:extLst>
              <a:ext uri="{FF2B5EF4-FFF2-40B4-BE49-F238E27FC236}">
                <a16:creationId xmlns:a16="http://schemas.microsoft.com/office/drawing/2014/main" id="{F5B7CED2-D92C-87A9-0157-BB43CC25AB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7846" y="1238133"/>
            <a:ext cx="2901873" cy="1717909"/>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Post-Installation Security Procedures | Linux, Linux OS, Free Linux  Operating System, Linux India">
            <a:extLst>
              <a:ext uri="{FF2B5EF4-FFF2-40B4-BE49-F238E27FC236}">
                <a16:creationId xmlns:a16="http://schemas.microsoft.com/office/drawing/2014/main" id="{AF1CF63B-0977-FC73-4866-25DEB1DB94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7017" y="3249871"/>
            <a:ext cx="3242475" cy="2149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5874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EB2C0-3EFD-053A-5640-CB50A0E76C16}"/>
              </a:ext>
            </a:extLst>
          </p:cNvPr>
          <p:cNvSpPr>
            <a:spLocks noGrp="1"/>
          </p:cNvSpPr>
          <p:nvPr>
            <p:ph type="title"/>
          </p:nvPr>
        </p:nvSpPr>
        <p:spPr/>
        <p:txBody>
          <a:bodyPr/>
          <a:lstStyle/>
          <a:p>
            <a:r>
              <a:rPr lang="en-GB" b="1" i="0" dirty="0">
                <a:solidFill>
                  <a:srgbClr val="FFFFFF"/>
                </a:solidFill>
                <a:effectLst/>
                <a:latin typeface="Nunito" pitchFamily="2" charset="0"/>
              </a:rPr>
              <a:t>Official Mascot of Linux</a:t>
            </a:r>
            <a:endParaRPr lang="en-GB" dirty="0"/>
          </a:p>
        </p:txBody>
      </p:sp>
      <p:sp>
        <p:nvSpPr>
          <p:cNvPr id="3" name="Content Placeholder 2">
            <a:extLst>
              <a:ext uri="{FF2B5EF4-FFF2-40B4-BE49-F238E27FC236}">
                <a16:creationId xmlns:a16="http://schemas.microsoft.com/office/drawing/2014/main" id="{CE7CD0B6-E16B-9D9F-EF3D-F36122AD0AF4}"/>
              </a:ext>
            </a:extLst>
          </p:cNvPr>
          <p:cNvSpPr>
            <a:spLocks noGrp="1"/>
          </p:cNvSpPr>
          <p:nvPr>
            <p:ph idx="1"/>
          </p:nvPr>
        </p:nvSpPr>
        <p:spPr>
          <a:xfrm>
            <a:off x="4009741" y="1825975"/>
            <a:ext cx="7376946" cy="3541714"/>
          </a:xfrm>
        </p:spPr>
        <p:txBody>
          <a:bodyPr>
            <a:normAutofit fontScale="92500"/>
          </a:bodyPr>
          <a:lstStyle/>
          <a:p>
            <a:r>
              <a:rPr lang="en-GB" b="0" i="0" dirty="0">
                <a:solidFill>
                  <a:srgbClr val="FFFFFF"/>
                </a:solidFill>
                <a:effectLst/>
                <a:latin typeface="Nunito" pitchFamily="2" charset="0"/>
              </a:rPr>
              <a:t>The official </a:t>
            </a:r>
            <a:r>
              <a:rPr lang="en-GB" b="1" i="0" dirty="0">
                <a:solidFill>
                  <a:srgbClr val="FFFFFF"/>
                </a:solidFill>
                <a:effectLst/>
                <a:latin typeface="Nunito" pitchFamily="2" charset="0"/>
              </a:rPr>
              <a:t>Linux mascot </a:t>
            </a:r>
            <a:r>
              <a:rPr lang="en-GB" b="0" i="0" dirty="0">
                <a:solidFill>
                  <a:srgbClr val="FFFFFF"/>
                </a:solidFill>
                <a:effectLst/>
                <a:latin typeface="Nunito" pitchFamily="2" charset="0"/>
              </a:rPr>
              <a:t>is a </a:t>
            </a:r>
            <a:r>
              <a:rPr lang="en-GB" b="1" i="0" dirty="0">
                <a:solidFill>
                  <a:srgbClr val="FFFFFF"/>
                </a:solidFill>
                <a:effectLst/>
                <a:latin typeface="Nunito" pitchFamily="2" charset="0"/>
              </a:rPr>
              <a:t>penguin </a:t>
            </a:r>
            <a:r>
              <a:rPr lang="en-GB" b="0" i="0" dirty="0">
                <a:solidFill>
                  <a:srgbClr val="FFFFFF"/>
                </a:solidFill>
                <a:effectLst/>
                <a:latin typeface="Nunito" pitchFamily="2" charset="0"/>
              </a:rPr>
              <a:t>named </a:t>
            </a:r>
            <a:r>
              <a:rPr lang="en-GB" b="1" i="0" dirty="0">
                <a:solidFill>
                  <a:srgbClr val="FFFFFF"/>
                </a:solidFill>
                <a:effectLst/>
                <a:latin typeface="Nunito" pitchFamily="2" charset="0"/>
              </a:rPr>
              <a:t>Tux</a:t>
            </a:r>
            <a:r>
              <a:rPr lang="en-GB" b="0" i="0" dirty="0">
                <a:solidFill>
                  <a:srgbClr val="FFFFFF"/>
                </a:solidFill>
                <a:effectLst/>
                <a:latin typeface="Nunito" pitchFamily="2" charset="0"/>
              </a:rPr>
              <a:t>. Created by artist </a:t>
            </a:r>
            <a:r>
              <a:rPr lang="en-GB" b="1" i="0" dirty="0">
                <a:solidFill>
                  <a:srgbClr val="FFFFFF"/>
                </a:solidFill>
                <a:effectLst/>
                <a:latin typeface="Nunito" pitchFamily="2" charset="0"/>
              </a:rPr>
              <a:t>Larry Ewing </a:t>
            </a:r>
            <a:r>
              <a:rPr lang="en-GB" b="0" i="0" dirty="0">
                <a:solidFill>
                  <a:srgbClr val="FFFFFF"/>
                </a:solidFill>
                <a:effectLst/>
                <a:latin typeface="Nunito" pitchFamily="2" charset="0"/>
              </a:rPr>
              <a:t>in </a:t>
            </a:r>
            <a:r>
              <a:rPr lang="en-GB" b="1" i="0" dirty="0">
                <a:solidFill>
                  <a:srgbClr val="FFFFFF"/>
                </a:solidFill>
                <a:effectLst/>
                <a:latin typeface="Nunito" pitchFamily="2" charset="0"/>
              </a:rPr>
              <a:t>1996</a:t>
            </a:r>
            <a:r>
              <a:rPr lang="en-GB" dirty="0">
                <a:solidFill>
                  <a:srgbClr val="FFFFFF"/>
                </a:solidFill>
                <a:latin typeface="Nunito" pitchFamily="2" charset="0"/>
              </a:rPr>
              <a:t>. </a:t>
            </a:r>
          </a:p>
          <a:p>
            <a:r>
              <a:rPr lang="en-GB" b="0" i="0" dirty="0">
                <a:solidFill>
                  <a:srgbClr val="FFFFFF"/>
                </a:solidFill>
                <a:effectLst/>
                <a:latin typeface="Nunito" pitchFamily="2" charset="0"/>
              </a:rPr>
              <a:t>Tux was chosen as the mascot because the </a:t>
            </a:r>
            <a:r>
              <a:rPr lang="en-GB" b="1" i="0" dirty="0">
                <a:solidFill>
                  <a:srgbClr val="FFFFFF"/>
                </a:solidFill>
                <a:effectLst/>
                <a:latin typeface="Nunito" pitchFamily="2" charset="0"/>
              </a:rPr>
              <a:t>penguin </a:t>
            </a:r>
            <a:r>
              <a:rPr lang="en-GB" b="0" i="0" dirty="0">
                <a:solidFill>
                  <a:srgbClr val="FFFFFF"/>
                </a:solidFill>
                <a:effectLst/>
                <a:latin typeface="Nunito" pitchFamily="2" charset="0"/>
              </a:rPr>
              <a:t>is a </a:t>
            </a:r>
            <a:r>
              <a:rPr lang="en-GB" b="1" i="0" dirty="0">
                <a:solidFill>
                  <a:srgbClr val="FFFFFF"/>
                </a:solidFill>
                <a:effectLst/>
                <a:latin typeface="Nunito" pitchFamily="2" charset="0"/>
              </a:rPr>
              <a:t>rare animal </a:t>
            </a:r>
            <a:r>
              <a:rPr lang="en-GB" b="0" i="0" dirty="0">
                <a:solidFill>
                  <a:srgbClr val="FFFFFF"/>
                </a:solidFill>
                <a:effectLst/>
                <a:latin typeface="Nunito" pitchFamily="2" charset="0"/>
              </a:rPr>
              <a:t>found in the wild in Antarctica, just as Linux is a </a:t>
            </a:r>
            <a:r>
              <a:rPr lang="en-GB" b="1" i="0" dirty="0">
                <a:solidFill>
                  <a:srgbClr val="FFFFFF"/>
                </a:solidFill>
                <a:effectLst/>
                <a:latin typeface="Nunito" pitchFamily="2" charset="0"/>
              </a:rPr>
              <a:t>unique </a:t>
            </a:r>
            <a:r>
              <a:rPr lang="en-GB" b="0" i="0" dirty="0">
                <a:solidFill>
                  <a:srgbClr val="FFFFFF"/>
                </a:solidFill>
                <a:effectLst/>
                <a:latin typeface="Nunito" pitchFamily="2" charset="0"/>
              </a:rPr>
              <a:t>and </a:t>
            </a:r>
            <a:r>
              <a:rPr lang="en-GB" b="1" i="0" dirty="0">
                <a:solidFill>
                  <a:srgbClr val="FFFFFF"/>
                </a:solidFill>
                <a:effectLst/>
                <a:latin typeface="Nunito" pitchFamily="2" charset="0"/>
              </a:rPr>
              <a:t>powerful </a:t>
            </a:r>
            <a:r>
              <a:rPr lang="en-GB" b="0" i="0" dirty="0">
                <a:solidFill>
                  <a:srgbClr val="FFFFFF"/>
                </a:solidFill>
                <a:effectLst/>
                <a:latin typeface="Nunito" pitchFamily="2" charset="0"/>
              </a:rPr>
              <a:t>operating system. The name </a:t>
            </a:r>
            <a:r>
              <a:rPr lang="en-GB" b="1" i="0" dirty="0">
                <a:solidFill>
                  <a:srgbClr val="FFFFFF"/>
                </a:solidFill>
                <a:effectLst/>
                <a:latin typeface="Nunito" pitchFamily="2" charset="0"/>
              </a:rPr>
              <a:t>Tux </a:t>
            </a:r>
            <a:r>
              <a:rPr lang="en-GB" b="0" i="0" dirty="0">
                <a:solidFill>
                  <a:srgbClr val="FFFFFF"/>
                </a:solidFill>
                <a:effectLst/>
                <a:latin typeface="Nunito" pitchFamily="2" charset="0"/>
              </a:rPr>
              <a:t>comes from the short form “</a:t>
            </a:r>
            <a:r>
              <a:rPr lang="en-GB" b="1" i="0" dirty="0">
                <a:solidFill>
                  <a:srgbClr val="FFFFFF"/>
                </a:solidFill>
                <a:effectLst/>
                <a:latin typeface="Nunito" pitchFamily="2" charset="0"/>
              </a:rPr>
              <a:t>Torvalds Unix</a:t>
            </a:r>
            <a:r>
              <a:rPr lang="en-GB" b="0" i="0" dirty="0">
                <a:solidFill>
                  <a:srgbClr val="FFFFFF"/>
                </a:solidFill>
                <a:effectLst/>
                <a:latin typeface="Nunito" pitchFamily="2" charset="0"/>
              </a:rPr>
              <a:t>“, in honour of the creator of Linux, Linus Torvalds.</a:t>
            </a:r>
            <a:endParaRPr lang="en-GB" dirty="0"/>
          </a:p>
        </p:txBody>
      </p:sp>
      <p:pic>
        <p:nvPicPr>
          <p:cNvPr id="7170" name="Picture 2" descr="Tux (mascot) - Wikipedia">
            <a:extLst>
              <a:ext uri="{FF2B5EF4-FFF2-40B4-BE49-F238E27FC236}">
                <a16:creationId xmlns:a16="http://schemas.microsoft.com/office/drawing/2014/main" id="{DBA3236C-131D-E134-7900-B333E3B5CE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1413" y="1990112"/>
            <a:ext cx="2428790" cy="2877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932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3C973-924F-27CF-A137-1BFA5BC8098B}"/>
              </a:ext>
            </a:extLst>
          </p:cNvPr>
          <p:cNvSpPr>
            <a:spLocks noGrp="1"/>
          </p:cNvSpPr>
          <p:nvPr>
            <p:ph type="title"/>
          </p:nvPr>
        </p:nvSpPr>
        <p:spPr/>
        <p:txBody>
          <a:bodyPr/>
          <a:lstStyle/>
          <a:p>
            <a:r>
              <a:rPr lang="en-US" dirty="0"/>
              <a:t>Linux command Line</a:t>
            </a:r>
            <a:endParaRPr lang="en-GB" dirty="0"/>
          </a:p>
        </p:txBody>
      </p:sp>
      <p:sp>
        <p:nvSpPr>
          <p:cNvPr id="3" name="Content Placeholder 2">
            <a:extLst>
              <a:ext uri="{FF2B5EF4-FFF2-40B4-BE49-F238E27FC236}">
                <a16:creationId xmlns:a16="http://schemas.microsoft.com/office/drawing/2014/main" id="{CD9EFB1E-9622-E156-408E-FF3E55DD9485}"/>
              </a:ext>
            </a:extLst>
          </p:cNvPr>
          <p:cNvSpPr>
            <a:spLocks noGrp="1"/>
          </p:cNvSpPr>
          <p:nvPr>
            <p:ph idx="1"/>
          </p:nvPr>
        </p:nvSpPr>
        <p:spPr>
          <a:xfrm>
            <a:off x="1141412" y="2249487"/>
            <a:ext cx="5432643" cy="3541714"/>
          </a:xfrm>
        </p:spPr>
        <p:txBody>
          <a:bodyPr>
            <a:normAutofit/>
          </a:bodyPr>
          <a:lstStyle/>
          <a:p>
            <a:r>
              <a:rPr lang="en-GB" sz="1800" dirty="0"/>
              <a:t>The Linux command line is a text interface to your computer. Often referred to as the shell, terminal, console, prompt, or various other names. </a:t>
            </a:r>
          </a:p>
          <a:p>
            <a:r>
              <a:rPr lang="en-GB" sz="1800" dirty="0"/>
              <a:t>Flexible to copy and paste commands</a:t>
            </a:r>
          </a:p>
          <a:p>
            <a:r>
              <a:rPr lang="en-GB" sz="1800" dirty="0"/>
              <a:t>Shell is a program that manages the kernel that manages the drivers</a:t>
            </a:r>
          </a:p>
          <a:p>
            <a:r>
              <a:rPr lang="en-GB" sz="1800" dirty="0"/>
              <a:t>Using the shell the user interfaces with the kernel</a:t>
            </a:r>
          </a:p>
          <a:p>
            <a:r>
              <a:rPr lang="en-GB" sz="1800" dirty="0"/>
              <a:t>CTRL ALT T</a:t>
            </a:r>
          </a:p>
        </p:txBody>
      </p:sp>
      <p:pic>
        <p:nvPicPr>
          <p:cNvPr id="10242" name="Picture 2" descr="Linux Operating System | CLI (Command Line Interface) and GUI (Graphic User  Interface) - GeeksforGeeks">
            <a:extLst>
              <a:ext uri="{FF2B5EF4-FFF2-40B4-BE49-F238E27FC236}">
                <a16:creationId xmlns:a16="http://schemas.microsoft.com/office/drawing/2014/main" id="{04AFB084-9CCE-5604-D761-AD833D0234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4055" y="2469783"/>
            <a:ext cx="4928357" cy="2772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9522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AA453-D2CE-4142-4A23-DC36373FCC29}"/>
              </a:ext>
            </a:extLst>
          </p:cNvPr>
          <p:cNvSpPr>
            <a:spLocks noGrp="1"/>
          </p:cNvSpPr>
          <p:nvPr>
            <p:ph type="title"/>
          </p:nvPr>
        </p:nvSpPr>
        <p:spPr/>
        <p:txBody>
          <a:bodyPr/>
          <a:lstStyle/>
          <a:p>
            <a:r>
              <a:rPr lang="en-US" dirty="0"/>
              <a:t>Basic terminal commands</a:t>
            </a:r>
            <a:endParaRPr lang="en-GB" dirty="0"/>
          </a:p>
        </p:txBody>
      </p:sp>
      <p:sp>
        <p:nvSpPr>
          <p:cNvPr id="3" name="Content Placeholder 2">
            <a:extLst>
              <a:ext uri="{FF2B5EF4-FFF2-40B4-BE49-F238E27FC236}">
                <a16:creationId xmlns:a16="http://schemas.microsoft.com/office/drawing/2014/main" id="{2198A352-F98B-F4D9-2C66-2BC731828857}"/>
              </a:ext>
            </a:extLst>
          </p:cNvPr>
          <p:cNvSpPr>
            <a:spLocks noGrp="1"/>
          </p:cNvSpPr>
          <p:nvPr>
            <p:ph idx="1"/>
          </p:nvPr>
        </p:nvSpPr>
        <p:spPr/>
        <p:txBody>
          <a:bodyPr/>
          <a:lstStyle/>
          <a:p>
            <a:r>
              <a:rPr lang="en-US" dirty="0"/>
              <a:t>ls: Lists a directory’s content</a:t>
            </a:r>
          </a:p>
          <a:p>
            <a:r>
              <a:rPr lang="en-US" dirty="0"/>
              <a:t>cd: Changes the working directory</a:t>
            </a:r>
          </a:p>
          <a:p>
            <a:r>
              <a:rPr lang="en-GB" dirty="0" err="1"/>
              <a:t>pwd</a:t>
            </a:r>
            <a:r>
              <a:rPr lang="en-GB" dirty="0"/>
              <a:t>: Shows the current working directory’s path</a:t>
            </a:r>
          </a:p>
          <a:p>
            <a:r>
              <a:rPr lang="en-GB" dirty="0" err="1"/>
              <a:t>mkdir</a:t>
            </a:r>
            <a:r>
              <a:rPr lang="en-GB" dirty="0"/>
              <a:t>: Creates a new directory</a:t>
            </a:r>
          </a:p>
          <a:p>
            <a:r>
              <a:rPr lang="en-GB" dirty="0" err="1"/>
              <a:t>rmdir</a:t>
            </a:r>
            <a:r>
              <a:rPr lang="en-GB" dirty="0"/>
              <a:t>: remove a directory</a:t>
            </a:r>
          </a:p>
        </p:txBody>
      </p:sp>
    </p:spTree>
    <p:extLst>
      <p:ext uri="{BB962C8B-B14F-4D97-AF65-F5344CB8AC3E}">
        <p14:creationId xmlns:p14="http://schemas.microsoft.com/office/powerpoint/2010/main" val="4294080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EEBFE-6711-019A-FE4D-8BF8E6E96259}"/>
              </a:ext>
            </a:extLst>
          </p:cNvPr>
          <p:cNvSpPr>
            <a:spLocks noGrp="1"/>
          </p:cNvSpPr>
          <p:nvPr>
            <p:ph type="title"/>
          </p:nvPr>
        </p:nvSpPr>
        <p:spPr/>
        <p:txBody>
          <a:bodyPr/>
          <a:lstStyle/>
          <a:p>
            <a:r>
              <a:rPr lang="en-US" dirty="0"/>
              <a:t>Example</a:t>
            </a:r>
            <a:endParaRPr lang="en-GB" dirty="0"/>
          </a:p>
        </p:txBody>
      </p:sp>
      <p:pic>
        <p:nvPicPr>
          <p:cNvPr id="5" name="Content Placeholder 4">
            <a:extLst>
              <a:ext uri="{FF2B5EF4-FFF2-40B4-BE49-F238E27FC236}">
                <a16:creationId xmlns:a16="http://schemas.microsoft.com/office/drawing/2014/main" id="{89C80325-736E-F097-3845-BAFB31F6FA2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5219" t="10952" r="16133" b="7791"/>
          <a:stretch/>
        </p:blipFill>
        <p:spPr>
          <a:xfrm>
            <a:off x="6258280" y="2082786"/>
            <a:ext cx="4789131" cy="3008299"/>
          </a:xfrm>
        </p:spPr>
      </p:pic>
      <p:pic>
        <p:nvPicPr>
          <p:cNvPr id="7" name="Picture 6">
            <a:extLst>
              <a:ext uri="{FF2B5EF4-FFF2-40B4-BE49-F238E27FC236}">
                <a16:creationId xmlns:a16="http://schemas.microsoft.com/office/drawing/2014/main" id="{33E6E6EA-96B1-5AEC-103F-B1FB9B0218E7}"/>
              </a:ext>
            </a:extLst>
          </p:cNvPr>
          <p:cNvPicPr>
            <a:picLocks noChangeAspect="1"/>
          </p:cNvPicPr>
          <p:nvPr/>
        </p:nvPicPr>
        <p:blipFill rotWithShape="1">
          <a:blip r:embed="rId3">
            <a:extLst>
              <a:ext uri="{28A0092B-C50C-407E-A947-70E740481C1C}">
                <a14:useLocalDpi xmlns:a14="http://schemas.microsoft.com/office/drawing/2010/main" val="0"/>
              </a:ext>
            </a:extLst>
          </a:blip>
          <a:srcRect l="16342" t="12324" r="36842" b="29414"/>
          <a:stretch/>
        </p:blipFill>
        <p:spPr>
          <a:xfrm>
            <a:off x="1039527" y="2082786"/>
            <a:ext cx="4533502" cy="2993997"/>
          </a:xfrm>
          <a:prstGeom prst="rect">
            <a:avLst/>
          </a:prstGeom>
        </p:spPr>
      </p:pic>
    </p:spTree>
    <p:extLst>
      <p:ext uri="{BB962C8B-B14F-4D97-AF65-F5344CB8AC3E}">
        <p14:creationId xmlns:p14="http://schemas.microsoft.com/office/powerpoint/2010/main" val="3464213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5C6C9-4ABF-4059-4DC1-388D4883F7EC}"/>
              </a:ext>
            </a:extLst>
          </p:cNvPr>
          <p:cNvSpPr>
            <a:spLocks noGrp="1"/>
          </p:cNvSpPr>
          <p:nvPr>
            <p:ph type="title"/>
          </p:nvPr>
        </p:nvSpPr>
        <p:spPr/>
        <p:txBody>
          <a:bodyPr/>
          <a:lstStyle/>
          <a:p>
            <a:r>
              <a:rPr lang="en-US" dirty="0"/>
              <a:t>Man keyword</a:t>
            </a:r>
            <a:endParaRPr lang="en-GB" dirty="0"/>
          </a:p>
        </p:txBody>
      </p:sp>
      <p:sp>
        <p:nvSpPr>
          <p:cNvPr id="3" name="Content Placeholder 2">
            <a:extLst>
              <a:ext uri="{FF2B5EF4-FFF2-40B4-BE49-F238E27FC236}">
                <a16:creationId xmlns:a16="http://schemas.microsoft.com/office/drawing/2014/main" id="{56E0A6FB-413B-00FC-71C5-545BF2BCFF8D}"/>
              </a:ext>
            </a:extLst>
          </p:cNvPr>
          <p:cNvSpPr>
            <a:spLocks noGrp="1"/>
          </p:cNvSpPr>
          <p:nvPr>
            <p:ph idx="1"/>
          </p:nvPr>
        </p:nvSpPr>
        <p:spPr/>
        <p:txBody>
          <a:bodyPr/>
          <a:lstStyle/>
          <a:p>
            <a:r>
              <a:rPr lang="en-GB" dirty="0"/>
              <a:t>The man command is a built-in manual for using Linux commands. It allows users to view the reference manuals of a command or utility run in the terminal. The man page (short for manual page) includes a command description, applicable options, flags, examples, and other informative sections.</a:t>
            </a:r>
          </a:p>
          <a:p>
            <a:r>
              <a:rPr lang="en-GB" dirty="0"/>
              <a:t>man ls, man </a:t>
            </a:r>
            <a:r>
              <a:rPr lang="en-GB" dirty="0" err="1"/>
              <a:t>pwd</a:t>
            </a:r>
            <a:r>
              <a:rPr lang="en-GB" dirty="0"/>
              <a:t>, etc…</a:t>
            </a:r>
          </a:p>
          <a:p>
            <a:r>
              <a:rPr lang="en-GB" dirty="0"/>
              <a:t>Press Q to exit the manual</a:t>
            </a:r>
          </a:p>
        </p:txBody>
      </p:sp>
    </p:spTree>
    <p:extLst>
      <p:ext uri="{BB962C8B-B14F-4D97-AF65-F5344CB8AC3E}">
        <p14:creationId xmlns:p14="http://schemas.microsoft.com/office/powerpoint/2010/main" val="1199546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34288-1778-E6A2-63A5-ECBE61CA78A5}"/>
              </a:ext>
            </a:extLst>
          </p:cNvPr>
          <p:cNvSpPr>
            <a:spLocks noGrp="1"/>
          </p:cNvSpPr>
          <p:nvPr>
            <p:ph type="title"/>
          </p:nvPr>
        </p:nvSpPr>
        <p:spPr/>
        <p:txBody>
          <a:bodyPr/>
          <a:lstStyle/>
          <a:p>
            <a:r>
              <a:rPr lang="en-US" dirty="0"/>
              <a:t>cd</a:t>
            </a:r>
            <a:endParaRPr lang="en-GB" dirty="0"/>
          </a:p>
        </p:txBody>
      </p:sp>
      <p:sp>
        <p:nvSpPr>
          <p:cNvPr id="3" name="Content Placeholder 2">
            <a:extLst>
              <a:ext uri="{FF2B5EF4-FFF2-40B4-BE49-F238E27FC236}">
                <a16:creationId xmlns:a16="http://schemas.microsoft.com/office/drawing/2014/main" id="{F9D78300-E255-F953-7949-E2BC9CD62003}"/>
              </a:ext>
            </a:extLst>
          </p:cNvPr>
          <p:cNvSpPr>
            <a:spLocks noGrp="1"/>
          </p:cNvSpPr>
          <p:nvPr>
            <p:ph idx="1"/>
          </p:nvPr>
        </p:nvSpPr>
        <p:spPr/>
        <p:txBody>
          <a:bodyPr/>
          <a:lstStyle/>
          <a:p>
            <a:r>
              <a:rPr lang="en-US" dirty="0"/>
              <a:t>cd .. : Jumps 1 directory back</a:t>
            </a:r>
          </a:p>
          <a:p>
            <a:r>
              <a:rPr lang="en-US" dirty="0"/>
              <a:t>cd ~ : goes to the home directory </a:t>
            </a:r>
            <a:endParaRPr lang="en-GB" dirty="0"/>
          </a:p>
        </p:txBody>
      </p:sp>
    </p:spTree>
    <p:extLst>
      <p:ext uri="{BB962C8B-B14F-4D97-AF65-F5344CB8AC3E}">
        <p14:creationId xmlns:p14="http://schemas.microsoft.com/office/powerpoint/2010/main" val="1947408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6CCD-3E44-FCCE-08B3-3A8791D97A1B}"/>
              </a:ext>
            </a:extLst>
          </p:cNvPr>
          <p:cNvSpPr>
            <a:spLocks noGrp="1"/>
          </p:cNvSpPr>
          <p:nvPr>
            <p:ph type="title"/>
          </p:nvPr>
        </p:nvSpPr>
        <p:spPr/>
        <p:txBody>
          <a:bodyPr/>
          <a:lstStyle/>
          <a:p>
            <a:r>
              <a:rPr lang="en-GB" b="0" i="0" dirty="0">
                <a:solidFill>
                  <a:srgbClr val="FFFFFF"/>
                </a:solidFill>
                <a:effectLst/>
                <a:latin typeface="Nunito" pitchFamily="2" charset="0"/>
              </a:rPr>
              <a:t>Directory Structure in Linux (TREE)</a:t>
            </a:r>
            <a:endParaRPr lang="en-GB" dirty="0"/>
          </a:p>
        </p:txBody>
      </p:sp>
      <p:sp>
        <p:nvSpPr>
          <p:cNvPr id="3" name="Content Placeholder 2">
            <a:extLst>
              <a:ext uri="{FF2B5EF4-FFF2-40B4-BE49-F238E27FC236}">
                <a16:creationId xmlns:a16="http://schemas.microsoft.com/office/drawing/2014/main" id="{E46DA444-0DE7-64FD-C0B7-9074AD8624DC}"/>
              </a:ext>
            </a:extLst>
          </p:cNvPr>
          <p:cNvSpPr>
            <a:spLocks noGrp="1"/>
          </p:cNvSpPr>
          <p:nvPr>
            <p:ph idx="1"/>
          </p:nvPr>
        </p:nvSpPr>
        <p:spPr>
          <a:xfrm>
            <a:off x="708277" y="1597793"/>
            <a:ext cx="6424044" cy="4174157"/>
          </a:xfrm>
        </p:spPr>
        <p:txBody>
          <a:bodyPr>
            <a:normAutofit/>
          </a:bodyPr>
          <a:lstStyle/>
          <a:p>
            <a:pPr algn="l" fontAlgn="base">
              <a:buFont typeface="+mj-lt"/>
              <a:buAutoNum type="arabicPeriod"/>
            </a:pPr>
            <a:r>
              <a:rPr lang="en-GB" sz="1800" b="1" i="0" dirty="0">
                <a:solidFill>
                  <a:srgbClr val="FFFFFF"/>
                </a:solidFill>
                <a:effectLst/>
                <a:latin typeface="Nunito" pitchFamily="2" charset="0"/>
              </a:rPr>
              <a:t> General Files</a:t>
            </a:r>
            <a:r>
              <a:rPr lang="en-GB" sz="1800" b="0" i="0" dirty="0">
                <a:solidFill>
                  <a:srgbClr val="FFFFFF"/>
                </a:solidFill>
                <a:effectLst/>
                <a:latin typeface="Nunito" pitchFamily="2" charset="0"/>
              </a:rPr>
              <a:t> – It is also called ordinary files. It may be an image, video, program, or simple text file. These types of files can be in ASCII or Binary format. It is the most commonly used file in the Linux system.</a:t>
            </a:r>
          </a:p>
          <a:p>
            <a:pPr algn="l" fontAlgn="base">
              <a:buFont typeface="+mj-lt"/>
              <a:buAutoNum type="arabicPeriod"/>
            </a:pPr>
            <a:r>
              <a:rPr lang="en-GB" sz="1800" b="1" i="0" dirty="0">
                <a:solidFill>
                  <a:srgbClr val="FFFFFF"/>
                </a:solidFill>
                <a:effectLst/>
                <a:latin typeface="Nunito" pitchFamily="2" charset="0"/>
              </a:rPr>
              <a:t>Directory Files </a:t>
            </a:r>
            <a:r>
              <a:rPr lang="en-GB" sz="1800" b="0" i="0" dirty="0">
                <a:solidFill>
                  <a:srgbClr val="FFFFFF"/>
                </a:solidFill>
                <a:effectLst/>
                <a:latin typeface="Nunito" pitchFamily="2" charset="0"/>
              </a:rPr>
              <a:t>–It may be a directory file within a directory (subdirectory).</a:t>
            </a:r>
          </a:p>
          <a:p>
            <a:pPr algn="l" fontAlgn="base">
              <a:buFont typeface="+mj-lt"/>
              <a:buAutoNum type="arabicPeriod"/>
            </a:pPr>
            <a:r>
              <a:rPr lang="en-GB" sz="1800" b="1" i="0" dirty="0">
                <a:solidFill>
                  <a:srgbClr val="FFFFFF"/>
                </a:solidFill>
                <a:effectLst/>
                <a:latin typeface="Nunito" pitchFamily="2" charset="0"/>
              </a:rPr>
              <a:t>Device Files –</a:t>
            </a:r>
            <a:r>
              <a:rPr lang="en-GB" sz="1800" b="0" i="0" dirty="0">
                <a:solidFill>
                  <a:srgbClr val="FFFFFF"/>
                </a:solidFill>
                <a:effectLst/>
                <a:latin typeface="Nunito" pitchFamily="2" charset="0"/>
              </a:rPr>
              <a:t> In a Windows-like operating system, devices like CD-ROM, and hard drives are represented as drive letters like F: G: H whereas in the Linux system devices are represented as files. As for example, /dev/sda1, /dev/sda2, and so on.</a:t>
            </a:r>
          </a:p>
        </p:txBody>
      </p:sp>
      <p:pic>
        <p:nvPicPr>
          <p:cNvPr id="12290" name="Picture 2" descr="This tutorial explains the Linux directory structure. You'll learn the  Linux filesystem hierarchy along with the purpose … | Linux, Linux mint,  System administrator">
            <a:extLst>
              <a:ext uri="{FF2B5EF4-FFF2-40B4-BE49-F238E27FC236}">
                <a16:creationId xmlns:a16="http://schemas.microsoft.com/office/drawing/2014/main" id="{292369EA-D1FC-5193-31EB-EC53F4797B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2321" y="2037548"/>
            <a:ext cx="4947383" cy="2782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420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D8312-DD06-F1D7-9280-B4D5F2FB64B9}"/>
              </a:ext>
            </a:extLst>
          </p:cNvPr>
          <p:cNvSpPr>
            <a:spLocks noGrp="1"/>
          </p:cNvSpPr>
          <p:nvPr>
            <p:ph type="title"/>
          </p:nvPr>
        </p:nvSpPr>
        <p:spPr/>
        <p:txBody>
          <a:bodyPr/>
          <a:lstStyle/>
          <a:p>
            <a:r>
              <a:rPr lang="en-GB" b="0" i="0" dirty="0">
                <a:solidFill>
                  <a:srgbClr val="FFFFFF"/>
                </a:solidFill>
                <a:effectLst/>
                <a:latin typeface="Nunito" pitchFamily="2" charset="0"/>
              </a:rPr>
              <a:t>Directory Structure in Linux</a:t>
            </a:r>
            <a:endParaRPr lang="en-GB" dirty="0"/>
          </a:p>
        </p:txBody>
      </p:sp>
      <p:pic>
        <p:nvPicPr>
          <p:cNvPr id="5" name="Content Placeholder 4">
            <a:extLst>
              <a:ext uri="{FF2B5EF4-FFF2-40B4-BE49-F238E27FC236}">
                <a16:creationId xmlns:a16="http://schemas.microsoft.com/office/drawing/2014/main" id="{A1E40648-1443-C98A-8FA6-489EB9DC3961}"/>
              </a:ext>
            </a:extLst>
          </p:cNvPr>
          <p:cNvPicPr>
            <a:picLocks noGrp="1" noChangeAspect="1"/>
          </p:cNvPicPr>
          <p:nvPr>
            <p:ph idx="1"/>
          </p:nvPr>
        </p:nvPicPr>
        <p:blipFill rotWithShape="1">
          <a:blip r:embed="rId2"/>
          <a:srcRect l="20776" t="24267" r="37185" b="15400"/>
          <a:stretch/>
        </p:blipFill>
        <p:spPr>
          <a:xfrm>
            <a:off x="1340336" y="1859566"/>
            <a:ext cx="4504624" cy="3636457"/>
          </a:xfrm>
        </p:spPr>
      </p:pic>
      <p:pic>
        <p:nvPicPr>
          <p:cNvPr id="7" name="Picture 6">
            <a:extLst>
              <a:ext uri="{FF2B5EF4-FFF2-40B4-BE49-F238E27FC236}">
                <a16:creationId xmlns:a16="http://schemas.microsoft.com/office/drawing/2014/main" id="{7681659C-2ACE-0719-1254-F0490CD7E493}"/>
              </a:ext>
            </a:extLst>
          </p:cNvPr>
          <p:cNvPicPr>
            <a:picLocks noChangeAspect="1"/>
          </p:cNvPicPr>
          <p:nvPr/>
        </p:nvPicPr>
        <p:blipFill rotWithShape="1">
          <a:blip r:embed="rId3"/>
          <a:srcRect l="20921" t="26807" r="29973" b="6667"/>
          <a:stretch/>
        </p:blipFill>
        <p:spPr>
          <a:xfrm>
            <a:off x="6495909" y="2016380"/>
            <a:ext cx="4430189" cy="3376061"/>
          </a:xfrm>
          <a:prstGeom prst="rect">
            <a:avLst/>
          </a:prstGeom>
        </p:spPr>
      </p:pic>
      <p:sp>
        <p:nvSpPr>
          <p:cNvPr id="3" name="TextBox 2">
            <a:extLst>
              <a:ext uri="{FF2B5EF4-FFF2-40B4-BE49-F238E27FC236}">
                <a16:creationId xmlns:a16="http://schemas.microsoft.com/office/drawing/2014/main" id="{8DC7615B-7FB7-2708-ED75-E96EC0904D97}"/>
              </a:ext>
            </a:extLst>
          </p:cNvPr>
          <p:cNvSpPr txBox="1"/>
          <p:nvPr/>
        </p:nvSpPr>
        <p:spPr>
          <a:xfrm>
            <a:off x="4928135" y="4543124"/>
            <a:ext cx="1115748" cy="369332"/>
          </a:xfrm>
          <a:prstGeom prst="rect">
            <a:avLst/>
          </a:prstGeom>
          <a:noFill/>
        </p:spPr>
        <p:txBody>
          <a:bodyPr wrap="square" rtlCol="0">
            <a:spAutoFit/>
          </a:bodyPr>
          <a:lstStyle/>
          <a:p>
            <a:r>
              <a:rPr lang="en-US" dirty="0"/>
              <a:t>libraries</a:t>
            </a:r>
            <a:endParaRPr lang="en-GB" dirty="0"/>
          </a:p>
        </p:txBody>
      </p:sp>
    </p:spTree>
    <p:extLst>
      <p:ext uri="{BB962C8B-B14F-4D97-AF65-F5344CB8AC3E}">
        <p14:creationId xmlns:p14="http://schemas.microsoft.com/office/powerpoint/2010/main" val="3383961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75018-6BAC-8922-2B55-B861F132AA2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D762AC5-3BDF-9AED-E374-A864B08B87AD}"/>
              </a:ext>
            </a:extLst>
          </p:cNvPr>
          <p:cNvSpPr>
            <a:spLocks noGrp="1"/>
          </p:cNvSpPr>
          <p:nvPr>
            <p:ph idx="1"/>
          </p:nvPr>
        </p:nvSpPr>
        <p:spPr/>
        <p:txBody>
          <a:bodyPr/>
          <a:lstStyle/>
          <a:p>
            <a:r>
              <a:rPr lang="en-US" dirty="0"/>
              <a:t>/</a:t>
            </a:r>
            <a:r>
              <a:rPr lang="en-US" dirty="0" err="1"/>
              <a:t>etc</a:t>
            </a:r>
            <a:r>
              <a:rPr lang="en-US" dirty="0"/>
              <a:t>: </a:t>
            </a:r>
            <a:r>
              <a:rPr lang="en-GB" dirty="0"/>
              <a:t>contains the core configuration files of the system, use primarily by the administrator and services, such as the password file and networking files.</a:t>
            </a:r>
          </a:p>
          <a:p>
            <a:r>
              <a:rPr lang="en-GB" dirty="0"/>
              <a:t>/</a:t>
            </a:r>
            <a:r>
              <a:rPr lang="en-GB" dirty="0" err="1"/>
              <a:t>usr</a:t>
            </a:r>
            <a:r>
              <a:rPr lang="en-GB" dirty="0"/>
              <a:t>: source of most of the system programs</a:t>
            </a:r>
          </a:p>
          <a:p>
            <a:endParaRPr lang="en-GB" dirty="0"/>
          </a:p>
        </p:txBody>
      </p:sp>
    </p:spTree>
    <p:extLst>
      <p:ext uri="{BB962C8B-B14F-4D97-AF65-F5344CB8AC3E}">
        <p14:creationId xmlns:p14="http://schemas.microsoft.com/office/powerpoint/2010/main" val="243955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658BB-D4F9-A96C-432D-9FC54E0197A5}"/>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F251B0EF-5EB3-EF25-3423-C3BCC0FC9137}"/>
              </a:ext>
            </a:extLst>
          </p:cNvPr>
          <p:cNvSpPr>
            <a:spLocks noGrp="1"/>
          </p:cNvSpPr>
          <p:nvPr>
            <p:ph idx="1"/>
          </p:nvPr>
        </p:nvSpPr>
        <p:spPr/>
        <p:txBody>
          <a:bodyPr/>
          <a:lstStyle/>
          <a:p>
            <a:endParaRPr lang="en-GB"/>
          </a:p>
        </p:txBody>
      </p:sp>
      <p:pic>
        <p:nvPicPr>
          <p:cNvPr id="9" name="Picture 8">
            <a:extLst>
              <a:ext uri="{FF2B5EF4-FFF2-40B4-BE49-F238E27FC236}">
                <a16:creationId xmlns:a16="http://schemas.microsoft.com/office/drawing/2014/main" id="{95717A70-10E3-F916-69CD-6DFC6AE6965A}"/>
              </a:ext>
            </a:extLst>
          </p:cNvPr>
          <p:cNvPicPr>
            <a:picLocks noChangeAspect="1"/>
          </p:cNvPicPr>
          <p:nvPr/>
        </p:nvPicPr>
        <p:blipFill rotWithShape="1">
          <a:blip r:embed="rId2"/>
          <a:srcRect l="21000" t="20982" r="29658" b="9019"/>
          <a:stretch/>
        </p:blipFill>
        <p:spPr>
          <a:xfrm>
            <a:off x="683395" y="1930249"/>
            <a:ext cx="4312117" cy="3441000"/>
          </a:xfrm>
          <a:prstGeom prst="rect">
            <a:avLst/>
          </a:prstGeom>
        </p:spPr>
      </p:pic>
      <p:pic>
        <p:nvPicPr>
          <p:cNvPr id="5" name="Picture 4">
            <a:extLst>
              <a:ext uri="{FF2B5EF4-FFF2-40B4-BE49-F238E27FC236}">
                <a16:creationId xmlns:a16="http://schemas.microsoft.com/office/drawing/2014/main" id="{62BCFE0B-824A-0135-15C6-0DFF03245A2C}"/>
              </a:ext>
            </a:extLst>
          </p:cNvPr>
          <p:cNvPicPr>
            <a:picLocks noChangeAspect="1"/>
          </p:cNvPicPr>
          <p:nvPr/>
        </p:nvPicPr>
        <p:blipFill rotWithShape="1">
          <a:blip r:embed="rId3"/>
          <a:srcRect l="19973" t="22942" r="29421" b="55498"/>
          <a:stretch/>
        </p:blipFill>
        <p:spPr>
          <a:xfrm>
            <a:off x="5178392" y="2911464"/>
            <a:ext cx="6169793" cy="1478570"/>
          </a:xfrm>
          <a:prstGeom prst="rect">
            <a:avLst/>
          </a:prstGeom>
        </p:spPr>
      </p:pic>
    </p:spTree>
    <p:extLst>
      <p:ext uri="{BB962C8B-B14F-4D97-AF65-F5344CB8AC3E}">
        <p14:creationId xmlns:p14="http://schemas.microsoft.com/office/powerpoint/2010/main" val="27726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17FEF-73D2-BD75-022E-AC530C88FAA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F4869DA3-5B37-7FB3-A655-83FB76164256}"/>
              </a:ext>
            </a:extLst>
          </p:cNvPr>
          <p:cNvSpPr>
            <a:spLocks noGrp="1"/>
          </p:cNvSpPr>
          <p:nvPr>
            <p:ph idx="1"/>
          </p:nvPr>
        </p:nvSpPr>
        <p:spPr/>
        <p:txBody>
          <a:bodyPr/>
          <a:lstStyle/>
          <a:p>
            <a:endParaRPr lang="en-GB"/>
          </a:p>
        </p:txBody>
      </p:sp>
      <p:pic>
        <p:nvPicPr>
          <p:cNvPr id="1026" name="Picture 2" descr="Linux System Directoies Poster">
            <a:extLst>
              <a:ext uri="{FF2B5EF4-FFF2-40B4-BE49-F238E27FC236}">
                <a16:creationId xmlns:a16="http://schemas.microsoft.com/office/drawing/2014/main" id="{EAFB8DD3-ED0E-5BBA-0B61-D10EBC9A2E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888" y="0"/>
            <a:ext cx="48482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622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157C0-DD7E-6B38-7491-AD861036B5ED}"/>
              </a:ext>
            </a:extLst>
          </p:cNvPr>
          <p:cNvSpPr>
            <a:spLocks noGrp="1"/>
          </p:cNvSpPr>
          <p:nvPr>
            <p:ph type="title"/>
          </p:nvPr>
        </p:nvSpPr>
        <p:spPr/>
        <p:txBody>
          <a:bodyPr/>
          <a:lstStyle/>
          <a:p>
            <a:r>
              <a:rPr lang="en-US" dirty="0"/>
              <a:t>ls</a:t>
            </a:r>
            <a:endParaRPr lang="en-GB" dirty="0"/>
          </a:p>
        </p:txBody>
      </p:sp>
      <p:sp>
        <p:nvSpPr>
          <p:cNvPr id="3" name="Content Placeholder 2">
            <a:extLst>
              <a:ext uri="{FF2B5EF4-FFF2-40B4-BE49-F238E27FC236}">
                <a16:creationId xmlns:a16="http://schemas.microsoft.com/office/drawing/2014/main" id="{7D0ECC10-0BE5-E4FC-42DF-127FA54FA150}"/>
              </a:ext>
            </a:extLst>
          </p:cNvPr>
          <p:cNvSpPr>
            <a:spLocks noGrp="1"/>
          </p:cNvSpPr>
          <p:nvPr>
            <p:ph idx="1"/>
          </p:nvPr>
        </p:nvSpPr>
        <p:spPr>
          <a:xfrm>
            <a:off x="1141412" y="1905289"/>
            <a:ext cx="9905999" cy="4334193"/>
          </a:xfrm>
        </p:spPr>
        <p:txBody>
          <a:bodyPr>
            <a:normAutofit fontScale="92500" lnSpcReduction="20000"/>
          </a:bodyPr>
          <a:lstStyle/>
          <a:p>
            <a:r>
              <a:rPr lang="en-GB" dirty="0"/>
              <a:t>-l 	Lists files and directories in long format, providing detailed information (permissions, owner, size, modification date). </a:t>
            </a:r>
          </a:p>
          <a:p>
            <a:r>
              <a:rPr lang="en-GB" dirty="0"/>
              <a:t>-a 	Includes hidden files and directories in the listing (those starting with a dot). </a:t>
            </a:r>
          </a:p>
          <a:p>
            <a:r>
              <a:rPr lang="en-GB" dirty="0"/>
              <a:t>-h 	Displays file sizes in a human-readable format (kilobytes, megabytes, gigabytes). </a:t>
            </a:r>
          </a:p>
          <a:p>
            <a:r>
              <a:rPr lang="en-GB" dirty="0"/>
              <a:t>-t 	Sort files and directories by their last modification time, displaying the most recently modified ones first.</a:t>
            </a:r>
          </a:p>
          <a:p>
            <a:r>
              <a:rPr lang="en-GB" dirty="0"/>
              <a:t>-r 	Reverses the order of the listing, displaying items in reverse alphabetical or chronological order. </a:t>
            </a:r>
          </a:p>
          <a:p>
            <a:r>
              <a:rPr lang="en-US" dirty="0"/>
              <a:t>-S </a:t>
            </a:r>
            <a:r>
              <a:rPr lang="en-GB" dirty="0"/>
              <a:t>Sort files and directories by their sizes, listing the largest ones first.</a:t>
            </a:r>
          </a:p>
          <a:p>
            <a:endParaRPr lang="en-GB" dirty="0"/>
          </a:p>
        </p:txBody>
      </p:sp>
    </p:spTree>
    <p:extLst>
      <p:ext uri="{BB962C8B-B14F-4D97-AF65-F5344CB8AC3E}">
        <p14:creationId xmlns:p14="http://schemas.microsoft.com/office/powerpoint/2010/main" val="3405846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6DEA6-8D50-19D0-185D-08452E3315CC}"/>
              </a:ext>
            </a:extLst>
          </p:cNvPr>
          <p:cNvSpPr>
            <a:spLocks noGrp="1"/>
          </p:cNvSpPr>
          <p:nvPr>
            <p:ph type="title"/>
          </p:nvPr>
        </p:nvSpPr>
        <p:spPr/>
        <p:txBody>
          <a:bodyPr/>
          <a:lstStyle/>
          <a:p>
            <a:r>
              <a:rPr lang="en-US" dirty="0"/>
              <a:t>Resources</a:t>
            </a:r>
            <a:endParaRPr lang="en-GB" dirty="0"/>
          </a:p>
        </p:txBody>
      </p:sp>
      <p:sp>
        <p:nvSpPr>
          <p:cNvPr id="3" name="Content Placeholder 2">
            <a:extLst>
              <a:ext uri="{FF2B5EF4-FFF2-40B4-BE49-F238E27FC236}">
                <a16:creationId xmlns:a16="http://schemas.microsoft.com/office/drawing/2014/main" id="{22F519E3-C881-2736-0130-0E525AC5CB35}"/>
              </a:ext>
            </a:extLst>
          </p:cNvPr>
          <p:cNvSpPr>
            <a:spLocks noGrp="1"/>
          </p:cNvSpPr>
          <p:nvPr>
            <p:ph idx="1"/>
          </p:nvPr>
        </p:nvSpPr>
        <p:spPr/>
        <p:txBody>
          <a:bodyPr/>
          <a:lstStyle/>
          <a:p>
            <a:r>
              <a:rPr lang="en-GB" dirty="0">
                <a:hlinkClick r:id="rId2"/>
              </a:rPr>
              <a:t>https://www.linux.com/what-is-linux/</a:t>
            </a:r>
            <a:endParaRPr lang="en-GB" dirty="0"/>
          </a:p>
          <a:p>
            <a:r>
              <a:rPr lang="en-GB" dirty="0">
                <a:hlinkClick r:id="rId3"/>
              </a:rPr>
              <a:t>https://www.geeksforgeeks.org/linux-history/</a:t>
            </a:r>
            <a:endParaRPr lang="en-GB" dirty="0"/>
          </a:p>
          <a:p>
            <a:r>
              <a:rPr lang="en-GB" dirty="0">
                <a:hlinkClick r:id="rId4"/>
              </a:rPr>
              <a:t>https://ubuntu.com/tutorials/command-line-for-beginners#1-overview</a:t>
            </a:r>
            <a:endParaRPr lang="en-GB" dirty="0"/>
          </a:p>
          <a:p>
            <a:r>
              <a:rPr lang="en-GB" dirty="0">
                <a:hlinkClick r:id="rId5"/>
              </a:rPr>
              <a:t>https://www.hostinger.com/tutorials/linux-commands</a:t>
            </a:r>
            <a:endParaRPr lang="en-GB" dirty="0"/>
          </a:p>
          <a:p>
            <a:r>
              <a:rPr lang="en-GB" dirty="0"/>
              <a:t>https://contabo.com/blog/linux-navigation-and-file-management/</a:t>
            </a:r>
          </a:p>
          <a:p>
            <a:endParaRPr lang="en-GB" dirty="0"/>
          </a:p>
        </p:txBody>
      </p:sp>
    </p:spTree>
    <p:extLst>
      <p:ext uri="{BB962C8B-B14F-4D97-AF65-F5344CB8AC3E}">
        <p14:creationId xmlns:p14="http://schemas.microsoft.com/office/powerpoint/2010/main" val="2029788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463</TotalTime>
  <Words>1113</Words>
  <Application>Microsoft Office PowerPoint</Application>
  <PresentationFormat>Widescreen</PresentationFormat>
  <Paragraphs>87</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Nunito</vt:lpstr>
      <vt:lpstr>Tw Cen MT</vt:lpstr>
      <vt:lpstr>Verdana</vt:lpstr>
      <vt:lpstr>Circuit</vt:lpstr>
      <vt:lpstr>Introduction to Linux</vt:lpstr>
      <vt:lpstr>Contents</vt:lpstr>
      <vt:lpstr>Linux?</vt:lpstr>
      <vt:lpstr>What is LINUX?</vt:lpstr>
      <vt:lpstr>Why linux?</vt:lpstr>
      <vt:lpstr>Linux os components</vt:lpstr>
      <vt:lpstr>Linux is open source</vt:lpstr>
      <vt:lpstr>Linux distributions</vt:lpstr>
      <vt:lpstr>Linux distributions</vt:lpstr>
      <vt:lpstr>History of linux</vt:lpstr>
      <vt:lpstr>History of linux ctd</vt:lpstr>
      <vt:lpstr>Official Mascot of Linux</vt:lpstr>
      <vt:lpstr>Linux command Line</vt:lpstr>
      <vt:lpstr>Basic terminal commands</vt:lpstr>
      <vt:lpstr>Example</vt:lpstr>
      <vt:lpstr>Man keyword</vt:lpstr>
      <vt:lpstr>cd</vt:lpstr>
      <vt:lpstr>Directory Structure in Linux (TREE)</vt:lpstr>
      <vt:lpstr>Directory Structure in Linux</vt:lpstr>
      <vt:lpstr>PowerPoint Presentation</vt:lpstr>
      <vt:lpstr>PowerPoint Presentation</vt:lpstr>
      <vt:lpstr>PowerPoint Presentation</vt:lpstr>
      <vt:lpstr>ls</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abdallah ouf</dc:creator>
  <cp:lastModifiedBy>Ahmed Khaled Mady</cp:lastModifiedBy>
  <cp:revision>13</cp:revision>
  <dcterms:created xsi:type="dcterms:W3CDTF">2024-01-22T23:12:58Z</dcterms:created>
  <dcterms:modified xsi:type="dcterms:W3CDTF">2024-02-05T13:19:26Z</dcterms:modified>
</cp:coreProperties>
</file>